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8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0803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14213D"/>
          </a:solidFill>
          <a:ln/>
        </p:spPr>
      </p:sp>
      <p:sp>
        <p:nvSpPr>
          <p:cNvPr id="3" name="Shape 1"/>
          <p:cNvSpPr/>
          <p:nvPr/>
        </p:nvSpPr>
        <p:spPr>
          <a:xfrm>
            <a:off x="-2286000" y="4754880"/>
            <a:ext cx="4572000" cy="4572000"/>
          </a:xfrm>
          <a:prstGeom prst="ellipse">
            <a:avLst/>
          </a:prstGeom>
          <a:solidFill>
            <a:srgbClr val="14213D"/>
          </a:solidFill>
          <a:ln/>
        </p:spPr>
      </p:sp>
      <p:sp>
        <p:nvSpPr>
          <p:cNvPr id="4" name="Shape 2"/>
          <p:cNvSpPr/>
          <p:nvPr/>
        </p:nvSpPr>
        <p:spPr>
          <a:xfrm>
            <a:off x="822960" y="822960"/>
            <a:ext cx="548640" cy="548640"/>
          </a:xfrm>
          <a:prstGeom prst="ellipse">
            <a:avLst/>
          </a:prstGeom>
          <a:solidFill>
            <a:srgbClr val="0F6E56"/>
          </a:solidFill>
          <a:ln/>
        </p:spPr>
      </p:sp>
      <p:sp>
        <p:nvSpPr>
          <p:cNvPr id="5" name="Text 3"/>
          <p:cNvSpPr/>
          <p:nvPr/>
        </p:nvSpPr>
        <p:spPr>
          <a:xfrm>
            <a:off x="822960" y="8229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822960" y="246888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Global COVID-19 Impact Dashboard</a:t>
            </a:r>
            <a:endParaRPr lang="en-US" sz="4000" dirty="0"/>
          </a:p>
        </p:txBody>
      </p:sp>
      <p:sp>
        <p:nvSpPr>
          <p:cNvPr id="7" name="Text 5"/>
          <p:cNvSpPr/>
          <p:nvPr/>
        </p:nvSpPr>
        <p:spPr>
          <a:xfrm>
            <a:off x="822960" y="3520440"/>
            <a:ext cx="9601200" cy="548640"/>
          </a:xfrm>
          <a:prstGeom prst="rect">
            <a:avLst/>
          </a:prstGeom>
          <a:noFill/>
          <a:ln/>
        </p:spPr>
        <p:txBody>
          <a:bodyPr wrap="square" lIns="0" tIns="0" rIns="0" bIns="0" rtlCol="0" anchor="ctr"/>
          <a:lstStyle/>
          <a:p>
            <a:pPr marL="0" indent="0">
              <a:buNone/>
            </a:pPr>
            <a:r>
              <a:rPr lang="en-US" sz="1700" dirty="0">
                <a:solidFill>
                  <a:srgbClr val="9FE1CB"/>
                </a:solidFill>
                <a:latin typeface="Calibri" pitchFamily="34" charset="0"/>
                <a:ea typeface="Calibri" pitchFamily="34" charset="-122"/>
                <a:cs typeface="Calibri" pitchFamily="34" charset="-120"/>
              </a:rPr>
              <a:t>Confirmed Cases, Deaths &amp; Severity Trends, January 2020 to March 2023</a:t>
            </a:r>
            <a:endParaRPr lang="en-US" sz="1700" dirty="0"/>
          </a:p>
        </p:txBody>
      </p:sp>
      <p:sp>
        <p:nvSpPr>
          <p:cNvPr id="8" name="Text 6"/>
          <p:cNvSpPr/>
          <p:nvPr/>
        </p:nvSpPr>
        <p:spPr>
          <a:xfrm>
            <a:off x="822960" y="5852160"/>
            <a:ext cx="7315200" cy="365760"/>
          </a:xfrm>
          <a:prstGeom prst="rect">
            <a:avLst/>
          </a:prstGeom>
          <a:noFill/>
          <a:ln/>
        </p:spPr>
        <p:txBody>
          <a:bodyPr wrap="square" lIns="0" tIns="0" rIns="0" bIns="0" rtlCol="0" anchor="ctr"/>
          <a:lstStyle/>
          <a:p>
            <a:pPr marL="0" indent="0">
              <a:buNone/>
            </a:pPr>
            <a:r>
              <a:rPr lang="en-US" sz="1300" dirty="0">
                <a:solidFill>
                  <a:srgbClr val="C7CEDA"/>
                </a:solidFill>
                <a:latin typeface="Calibri" pitchFamily="34" charset="0"/>
                <a:ea typeface="Calibri" pitchFamily="34" charset="-122"/>
                <a:cs typeface="Calibri" pitchFamily="34" charset="-120"/>
              </a:rPr>
              <a:t>Timothy Kehinde   |   Data Analyst Intern, AnalystLab Africa</a:t>
            </a:r>
            <a:endParaRPr lang="en-US" sz="1300" dirty="0"/>
          </a:p>
        </p:txBody>
      </p:sp>
      <p:sp>
        <p:nvSpPr>
          <p:cNvPr id="9" name="Text 7"/>
          <p:cNvSpPr/>
          <p:nvPr/>
        </p:nvSpPr>
        <p:spPr>
          <a:xfrm>
            <a:off x="822960" y="6172200"/>
            <a:ext cx="7315200" cy="320040"/>
          </a:xfrm>
          <a:prstGeom prst="rect">
            <a:avLst/>
          </a:prstGeom>
          <a:noFill/>
          <a:ln/>
        </p:spPr>
        <p:txBody>
          <a:bodyPr wrap="square" lIns="0" tIns="0" rIns="0" bIns="0" rtlCol="0" anchor="ctr"/>
          <a:lstStyle/>
          <a:p>
            <a:pPr marL="0" indent="0">
              <a:buNone/>
            </a:pPr>
            <a:r>
              <a:rPr lang="en-US" sz="1100" i="1" dirty="0">
                <a:solidFill>
                  <a:srgbClr val="8A93A6"/>
                </a:solidFill>
                <a:latin typeface="Calibri" pitchFamily="34" charset="0"/>
                <a:ea typeface="Calibri" pitchFamily="34" charset="-122"/>
                <a:cs typeface="Calibri" pitchFamily="34" charset="-120"/>
              </a:rPr>
              <a:t>Power BI  •  JHU CSSE COVID-19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Dataset Overview</a:t>
            </a:r>
            <a:endParaRPr lang="en-US" sz="3200" dirty="0"/>
          </a:p>
        </p:txBody>
      </p:sp>
      <p:sp>
        <p:nvSpPr>
          <p:cNvPr id="3" name="Shape 1"/>
          <p:cNvSpPr/>
          <p:nvPr/>
        </p:nvSpPr>
        <p:spPr>
          <a:xfrm>
            <a:off x="548640" y="1463040"/>
            <a:ext cx="11064240" cy="1097280"/>
          </a:xfrm>
          <a:prstGeom prst="roundRect">
            <a:avLst>
              <a:gd name="adj" fmla="val 8333"/>
            </a:avLst>
          </a:prstGeom>
          <a:solidFill>
            <a:srgbClr val="F5F7F8"/>
          </a:solidFill>
          <a:ln/>
        </p:spPr>
      </p:sp>
      <p:sp>
        <p:nvSpPr>
          <p:cNvPr id="4" name="Shape 2"/>
          <p:cNvSpPr/>
          <p:nvPr/>
        </p:nvSpPr>
        <p:spPr>
          <a:xfrm>
            <a:off x="822960" y="1737360"/>
            <a:ext cx="548640" cy="548640"/>
          </a:xfrm>
          <a:prstGeom prst="ellipse">
            <a:avLst/>
          </a:prstGeom>
          <a:solidFill>
            <a:srgbClr val="0F6E56"/>
          </a:solidFill>
          <a:ln/>
        </p:spPr>
      </p:sp>
      <p:sp>
        <p:nvSpPr>
          <p:cNvPr id="5" name="Text 3"/>
          <p:cNvSpPr/>
          <p:nvPr/>
        </p:nvSpPr>
        <p:spPr>
          <a:xfrm>
            <a:off x="822960" y="1737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①</a:t>
            </a:r>
            <a:endParaRPr lang="en-US" sz="1600" dirty="0"/>
          </a:p>
        </p:txBody>
      </p:sp>
      <p:sp>
        <p:nvSpPr>
          <p:cNvPr id="6" name="Text 4"/>
          <p:cNvSpPr/>
          <p:nvPr/>
        </p:nvSpPr>
        <p:spPr>
          <a:xfrm>
            <a:off x="1600200" y="1581912"/>
            <a:ext cx="365760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Source</a:t>
            </a:r>
            <a:endParaRPr lang="en-US" sz="1500" dirty="0"/>
          </a:p>
        </p:txBody>
      </p:sp>
      <p:sp>
        <p:nvSpPr>
          <p:cNvPr id="7" name="Text 5"/>
          <p:cNvSpPr/>
          <p:nvPr/>
        </p:nvSpPr>
        <p:spPr>
          <a:xfrm>
            <a:off x="1600200" y="1938528"/>
            <a:ext cx="978408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JHU CSSE COVID-19 Data Repository, three time-series files: Confirmed, Deaths, Recovered.</a:t>
            </a:r>
            <a:endParaRPr lang="en-US" sz="1200" dirty="0"/>
          </a:p>
        </p:txBody>
      </p:sp>
      <p:sp>
        <p:nvSpPr>
          <p:cNvPr id="8" name="Shape 6"/>
          <p:cNvSpPr/>
          <p:nvPr/>
        </p:nvSpPr>
        <p:spPr>
          <a:xfrm>
            <a:off x="548640" y="2724912"/>
            <a:ext cx="11064240" cy="1097280"/>
          </a:xfrm>
          <a:prstGeom prst="roundRect">
            <a:avLst>
              <a:gd name="adj" fmla="val 8333"/>
            </a:avLst>
          </a:prstGeom>
          <a:solidFill>
            <a:srgbClr val="F5F7F8"/>
          </a:solidFill>
          <a:ln/>
        </p:spPr>
      </p:sp>
      <p:sp>
        <p:nvSpPr>
          <p:cNvPr id="9" name="Shape 7"/>
          <p:cNvSpPr/>
          <p:nvPr/>
        </p:nvSpPr>
        <p:spPr>
          <a:xfrm>
            <a:off x="822960" y="2999232"/>
            <a:ext cx="548640" cy="548640"/>
          </a:xfrm>
          <a:prstGeom prst="ellipse">
            <a:avLst/>
          </a:prstGeom>
          <a:solidFill>
            <a:srgbClr val="0F6E56"/>
          </a:solidFill>
          <a:ln/>
        </p:spPr>
      </p:sp>
      <p:sp>
        <p:nvSpPr>
          <p:cNvPr id="10" name="Text 8"/>
          <p:cNvSpPr/>
          <p:nvPr/>
        </p:nvSpPr>
        <p:spPr>
          <a:xfrm>
            <a:off x="822960" y="299923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②</a:t>
            </a:r>
            <a:endParaRPr lang="en-US" sz="1600" dirty="0"/>
          </a:p>
        </p:txBody>
      </p:sp>
      <p:sp>
        <p:nvSpPr>
          <p:cNvPr id="11" name="Text 9"/>
          <p:cNvSpPr/>
          <p:nvPr/>
        </p:nvSpPr>
        <p:spPr>
          <a:xfrm>
            <a:off x="1600200" y="2843784"/>
            <a:ext cx="365760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Coverage</a:t>
            </a:r>
            <a:endParaRPr lang="en-US" sz="1500" dirty="0"/>
          </a:p>
        </p:txBody>
      </p:sp>
      <p:sp>
        <p:nvSpPr>
          <p:cNvPr id="12" name="Text 10"/>
          <p:cNvSpPr/>
          <p:nvPr/>
        </p:nvSpPr>
        <p:spPr>
          <a:xfrm>
            <a:off x="1600200" y="3200400"/>
            <a:ext cx="978408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201 countries and regions, daily records from January 22, 2020 to March 9, 2023.</a:t>
            </a:r>
            <a:endParaRPr lang="en-US" sz="1200" dirty="0"/>
          </a:p>
        </p:txBody>
      </p:sp>
      <p:sp>
        <p:nvSpPr>
          <p:cNvPr id="13" name="Shape 11"/>
          <p:cNvSpPr/>
          <p:nvPr/>
        </p:nvSpPr>
        <p:spPr>
          <a:xfrm>
            <a:off x="548640" y="3986784"/>
            <a:ext cx="11064240" cy="1097280"/>
          </a:xfrm>
          <a:prstGeom prst="roundRect">
            <a:avLst>
              <a:gd name="adj" fmla="val 8333"/>
            </a:avLst>
          </a:prstGeom>
          <a:solidFill>
            <a:srgbClr val="F5F7F8"/>
          </a:solidFill>
          <a:ln/>
        </p:spPr>
      </p:sp>
      <p:sp>
        <p:nvSpPr>
          <p:cNvPr id="14" name="Shape 12"/>
          <p:cNvSpPr/>
          <p:nvPr/>
        </p:nvSpPr>
        <p:spPr>
          <a:xfrm>
            <a:off x="822960" y="4261104"/>
            <a:ext cx="548640" cy="548640"/>
          </a:xfrm>
          <a:prstGeom prst="ellipse">
            <a:avLst/>
          </a:prstGeom>
          <a:solidFill>
            <a:srgbClr val="0F6E56"/>
          </a:solidFill>
          <a:ln/>
        </p:spPr>
      </p:sp>
      <p:sp>
        <p:nvSpPr>
          <p:cNvPr id="15" name="Text 13"/>
          <p:cNvSpPr/>
          <p:nvPr/>
        </p:nvSpPr>
        <p:spPr>
          <a:xfrm>
            <a:off x="822960" y="426110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③</a:t>
            </a:r>
            <a:endParaRPr lang="en-US" sz="1600" dirty="0"/>
          </a:p>
        </p:txBody>
      </p:sp>
      <p:sp>
        <p:nvSpPr>
          <p:cNvPr id="16" name="Text 14"/>
          <p:cNvSpPr/>
          <p:nvPr/>
        </p:nvSpPr>
        <p:spPr>
          <a:xfrm>
            <a:off x="1600200" y="4105656"/>
            <a:ext cx="365760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Structure</a:t>
            </a:r>
            <a:endParaRPr lang="en-US" sz="1500" dirty="0"/>
          </a:p>
        </p:txBody>
      </p:sp>
      <p:sp>
        <p:nvSpPr>
          <p:cNvPr id="17" name="Text 15"/>
          <p:cNvSpPr/>
          <p:nvPr/>
        </p:nvSpPr>
        <p:spPr>
          <a:xfrm>
            <a:off x="1600200" y="4462272"/>
            <a:ext cx="978408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Originally wide format (one column per date). Unpivoted, grouped, and merged into a single clean table in Power BI.</a:t>
            </a:r>
            <a:endParaRPr lang="en-US" sz="1200" dirty="0"/>
          </a:p>
        </p:txBody>
      </p:sp>
      <p:sp>
        <p:nvSpPr>
          <p:cNvPr id="18" name="Shape 16"/>
          <p:cNvSpPr/>
          <p:nvPr/>
        </p:nvSpPr>
        <p:spPr>
          <a:xfrm>
            <a:off x="548640" y="5248656"/>
            <a:ext cx="11064240" cy="1097280"/>
          </a:xfrm>
          <a:prstGeom prst="roundRect">
            <a:avLst>
              <a:gd name="adj" fmla="val 8333"/>
            </a:avLst>
          </a:prstGeom>
          <a:solidFill>
            <a:srgbClr val="F5F7F8"/>
          </a:solidFill>
          <a:ln/>
        </p:spPr>
      </p:sp>
      <p:sp>
        <p:nvSpPr>
          <p:cNvPr id="19" name="Shape 17"/>
          <p:cNvSpPr/>
          <p:nvPr/>
        </p:nvSpPr>
        <p:spPr>
          <a:xfrm>
            <a:off x="822960" y="5522976"/>
            <a:ext cx="548640" cy="548640"/>
          </a:xfrm>
          <a:prstGeom prst="ellipse">
            <a:avLst/>
          </a:prstGeom>
          <a:solidFill>
            <a:srgbClr val="0F6E56"/>
          </a:solidFill>
          <a:ln/>
        </p:spPr>
      </p:sp>
      <p:sp>
        <p:nvSpPr>
          <p:cNvPr id="20" name="Text 18"/>
          <p:cNvSpPr/>
          <p:nvPr/>
        </p:nvSpPr>
        <p:spPr>
          <a:xfrm>
            <a:off x="822960" y="552297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④</a:t>
            </a:r>
            <a:endParaRPr lang="en-US" sz="1600" dirty="0"/>
          </a:p>
        </p:txBody>
      </p:sp>
      <p:sp>
        <p:nvSpPr>
          <p:cNvPr id="21" name="Text 19"/>
          <p:cNvSpPr/>
          <p:nvPr/>
        </p:nvSpPr>
        <p:spPr>
          <a:xfrm>
            <a:off x="1600200" y="5367528"/>
            <a:ext cx="365760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Known limitation</a:t>
            </a:r>
            <a:endParaRPr lang="en-US" sz="1500" dirty="0"/>
          </a:p>
        </p:txBody>
      </p:sp>
      <p:sp>
        <p:nvSpPr>
          <p:cNvPr id="22" name="Text 20"/>
          <p:cNvSpPr/>
          <p:nvPr/>
        </p:nvSpPr>
        <p:spPr>
          <a:xfrm>
            <a:off x="1600200" y="5724144"/>
            <a:ext cx="978408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Recovered figures are unreliable for many countries after mid-pandemic, as JHU discontinued consistent recovery reporting.</a:t>
            </a:r>
            <a:endParaRPr lang="en-US" sz="1200" dirty="0"/>
          </a:p>
        </p:txBody>
      </p:sp>
      <p:sp>
        <p:nvSpPr>
          <p:cNvPr id="23" name="Text 21"/>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AnalystLab Africa  |  Week 4 Capstone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50292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Business Problem</a:t>
            </a:r>
            <a:endParaRPr lang="en-US" sz="3200" dirty="0"/>
          </a:p>
        </p:txBody>
      </p:sp>
      <p:sp>
        <p:nvSpPr>
          <p:cNvPr id="3" name="Text 1"/>
          <p:cNvSpPr/>
          <p:nvPr/>
        </p:nvSpPr>
        <p:spPr>
          <a:xfrm>
            <a:off x="548640" y="1188720"/>
            <a:ext cx="10789920" cy="457200"/>
          </a:xfrm>
          <a:prstGeom prst="rect">
            <a:avLst/>
          </a:prstGeom>
          <a:noFill/>
          <a:ln/>
        </p:spPr>
        <p:txBody>
          <a:bodyPr wrap="square" lIns="0" tIns="0" rIns="0" bIns="0" rtlCol="0" anchor="ctr"/>
          <a:lstStyle/>
          <a:p>
            <a:pPr marL="0" indent="0">
              <a:buNone/>
            </a:pPr>
            <a:r>
              <a:rPr lang="en-US" sz="1400" i="1" dirty="0">
                <a:solidFill>
                  <a:srgbClr val="9FE1CB"/>
                </a:solidFill>
                <a:latin typeface="Calibri" pitchFamily="34" charset="0"/>
                <a:ea typeface="Calibri" pitchFamily="34" charset="-122"/>
                <a:cs typeface="Calibri" pitchFamily="34" charset="-120"/>
              </a:rPr>
              <a:t>A health policy analyst needs to know: how did COVID-19 spread, and where did it hit hardest?</a:t>
            </a:r>
            <a:endParaRPr lang="en-US" sz="1400" dirty="0"/>
          </a:p>
        </p:txBody>
      </p:sp>
      <p:sp>
        <p:nvSpPr>
          <p:cNvPr id="4" name="Shape 2"/>
          <p:cNvSpPr/>
          <p:nvPr/>
        </p:nvSpPr>
        <p:spPr>
          <a:xfrm>
            <a:off x="548640" y="2103120"/>
            <a:ext cx="3611880" cy="3749040"/>
          </a:xfrm>
          <a:prstGeom prst="roundRect">
            <a:avLst>
              <a:gd name="adj" fmla="val 2532"/>
            </a:avLst>
          </a:prstGeom>
          <a:solidFill>
            <a:srgbClr val="14213D"/>
          </a:solidFill>
          <a:ln/>
        </p:spPr>
      </p:sp>
      <p:sp>
        <p:nvSpPr>
          <p:cNvPr id="5" name="Shape 3"/>
          <p:cNvSpPr/>
          <p:nvPr/>
        </p:nvSpPr>
        <p:spPr>
          <a:xfrm>
            <a:off x="868680" y="2423160"/>
            <a:ext cx="594360" cy="594360"/>
          </a:xfrm>
          <a:prstGeom prst="ellipse">
            <a:avLst/>
          </a:prstGeom>
          <a:solidFill>
            <a:srgbClr val="0F6E56"/>
          </a:solidFill>
          <a:ln/>
        </p:spPr>
      </p:sp>
      <p:sp>
        <p:nvSpPr>
          <p:cNvPr id="6" name="Text 4"/>
          <p:cNvSpPr/>
          <p:nvPr/>
        </p:nvSpPr>
        <p:spPr>
          <a:xfrm>
            <a:off x="868680" y="2423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868680" y="3246120"/>
            <a:ext cx="301752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fast did it spread?</a:t>
            </a:r>
            <a:endParaRPr lang="en-US" sz="1600" dirty="0"/>
          </a:p>
        </p:txBody>
      </p:sp>
      <p:sp>
        <p:nvSpPr>
          <p:cNvPr id="8" name="Text 6"/>
          <p:cNvSpPr/>
          <p:nvPr/>
        </p:nvSpPr>
        <p:spPr>
          <a:xfrm>
            <a:off x="868680" y="3977640"/>
            <a:ext cx="3017520" cy="1645920"/>
          </a:xfrm>
          <a:prstGeom prst="rect">
            <a:avLst/>
          </a:prstGeom>
          <a:noFill/>
          <a:ln/>
        </p:spPr>
        <p:txBody>
          <a:bodyPr wrap="square" lIns="0" tIns="0" rIns="0" bIns="0" rtlCol="0" anchor="ctr"/>
          <a:lstStyle/>
          <a:p>
            <a:pPr marL="0" indent="0">
              <a:buNone/>
            </a:pPr>
            <a:r>
              <a:rPr lang="en-US" sz="1200" dirty="0">
                <a:solidFill>
                  <a:srgbClr val="C7CEDA"/>
                </a:solidFill>
                <a:latin typeface="Calibri" pitchFamily="34" charset="0"/>
                <a:ea typeface="Calibri" pitchFamily="34" charset="-122"/>
                <a:cs typeface="Calibri" pitchFamily="34" charset="-120"/>
              </a:rPr>
              <a:t>Did case growth follow distinct waves, and did the pace change over time?</a:t>
            </a:r>
            <a:endParaRPr lang="en-US" sz="1200" dirty="0"/>
          </a:p>
        </p:txBody>
      </p:sp>
      <p:sp>
        <p:nvSpPr>
          <p:cNvPr id="9" name="Shape 7"/>
          <p:cNvSpPr/>
          <p:nvPr/>
        </p:nvSpPr>
        <p:spPr>
          <a:xfrm>
            <a:off x="4389120" y="2103120"/>
            <a:ext cx="3611880" cy="3749040"/>
          </a:xfrm>
          <a:prstGeom prst="roundRect">
            <a:avLst>
              <a:gd name="adj" fmla="val 2532"/>
            </a:avLst>
          </a:prstGeom>
          <a:solidFill>
            <a:srgbClr val="14213D"/>
          </a:solidFill>
          <a:ln/>
        </p:spPr>
      </p:sp>
      <p:sp>
        <p:nvSpPr>
          <p:cNvPr id="10" name="Shape 8"/>
          <p:cNvSpPr/>
          <p:nvPr/>
        </p:nvSpPr>
        <p:spPr>
          <a:xfrm>
            <a:off x="4709160" y="2423160"/>
            <a:ext cx="594360" cy="594360"/>
          </a:xfrm>
          <a:prstGeom prst="ellipse">
            <a:avLst/>
          </a:prstGeom>
          <a:solidFill>
            <a:srgbClr val="0F6E56"/>
          </a:solidFill>
          <a:ln/>
        </p:spPr>
      </p:sp>
      <p:sp>
        <p:nvSpPr>
          <p:cNvPr id="11" name="Text 9"/>
          <p:cNvSpPr/>
          <p:nvPr/>
        </p:nvSpPr>
        <p:spPr>
          <a:xfrm>
            <a:off x="4709160" y="2423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4709160" y="3246120"/>
            <a:ext cx="301752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Who was hit hardest?</a:t>
            </a:r>
            <a:endParaRPr lang="en-US" sz="1600" dirty="0"/>
          </a:p>
        </p:txBody>
      </p:sp>
      <p:sp>
        <p:nvSpPr>
          <p:cNvPr id="13" name="Text 11"/>
          <p:cNvSpPr/>
          <p:nvPr/>
        </p:nvSpPr>
        <p:spPr>
          <a:xfrm>
            <a:off x="4709160" y="3977640"/>
            <a:ext cx="3017520" cy="1645920"/>
          </a:xfrm>
          <a:prstGeom prst="rect">
            <a:avLst/>
          </a:prstGeom>
          <a:noFill/>
          <a:ln/>
        </p:spPr>
        <p:txBody>
          <a:bodyPr wrap="square" lIns="0" tIns="0" rIns="0" bIns="0" rtlCol="0" anchor="ctr"/>
          <a:lstStyle/>
          <a:p>
            <a:pPr marL="0" indent="0">
              <a:buNone/>
            </a:pPr>
            <a:r>
              <a:rPr lang="en-US" sz="1200" dirty="0">
                <a:solidFill>
                  <a:srgbClr val="C7CEDA"/>
                </a:solidFill>
                <a:latin typeface="Calibri" pitchFamily="34" charset="0"/>
                <a:ea typeface="Calibri" pitchFamily="34" charset="-122"/>
                <a:cs typeface="Calibri" pitchFamily="34" charset="-120"/>
              </a:rPr>
              <a:t>In absolute case volume, and separately, in relative severity (death rate).</a:t>
            </a:r>
            <a:endParaRPr lang="en-US" sz="1200" dirty="0"/>
          </a:p>
        </p:txBody>
      </p:sp>
      <p:sp>
        <p:nvSpPr>
          <p:cNvPr id="14" name="Shape 12"/>
          <p:cNvSpPr/>
          <p:nvPr/>
        </p:nvSpPr>
        <p:spPr>
          <a:xfrm>
            <a:off x="8229600" y="2103120"/>
            <a:ext cx="3611880" cy="3749040"/>
          </a:xfrm>
          <a:prstGeom prst="roundRect">
            <a:avLst>
              <a:gd name="adj" fmla="val 2532"/>
            </a:avLst>
          </a:prstGeom>
          <a:solidFill>
            <a:srgbClr val="14213D"/>
          </a:solidFill>
          <a:ln/>
        </p:spPr>
      </p:sp>
      <p:sp>
        <p:nvSpPr>
          <p:cNvPr id="15" name="Shape 13"/>
          <p:cNvSpPr/>
          <p:nvPr/>
        </p:nvSpPr>
        <p:spPr>
          <a:xfrm>
            <a:off x="8549640" y="2423160"/>
            <a:ext cx="594360" cy="594360"/>
          </a:xfrm>
          <a:prstGeom prst="ellipse">
            <a:avLst/>
          </a:prstGeom>
          <a:solidFill>
            <a:srgbClr val="0F6E56"/>
          </a:solidFill>
          <a:ln/>
        </p:spPr>
      </p:sp>
      <p:sp>
        <p:nvSpPr>
          <p:cNvPr id="16" name="Text 14"/>
          <p:cNvSpPr/>
          <p:nvPr/>
        </p:nvSpPr>
        <p:spPr>
          <a:xfrm>
            <a:off x="8549640" y="2423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8549640" y="3246120"/>
            <a:ext cx="301752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Can the data be trusted?</a:t>
            </a:r>
            <a:endParaRPr lang="en-US" sz="1600" dirty="0"/>
          </a:p>
        </p:txBody>
      </p:sp>
      <p:sp>
        <p:nvSpPr>
          <p:cNvPr id="18" name="Text 16"/>
          <p:cNvSpPr/>
          <p:nvPr/>
        </p:nvSpPr>
        <p:spPr>
          <a:xfrm>
            <a:off x="8549640" y="3977640"/>
            <a:ext cx="3017520" cy="1645920"/>
          </a:xfrm>
          <a:prstGeom prst="rect">
            <a:avLst/>
          </a:prstGeom>
          <a:noFill/>
          <a:ln/>
        </p:spPr>
        <p:txBody>
          <a:bodyPr wrap="square" lIns="0" tIns="0" rIns="0" bIns="0" rtlCol="0" anchor="ctr"/>
          <a:lstStyle/>
          <a:p>
            <a:pPr marL="0" indent="0">
              <a:buNone/>
            </a:pPr>
            <a:r>
              <a:rPr lang="en-US" sz="1200" dirty="0">
                <a:solidFill>
                  <a:srgbClr val="C7CEDA"/>
                </a:solidFill>
                <a:latin typeface="Calibri" pitchFamily="34" charset="0"/>
                <a:ea typeface="Calibri" pitchFamily="34" charset="-122"/>
                <a:cs typeface="Calibri" pitchFamily="34" charset="-120"/>
              </a:rPr>
              <a:t>Where are the known reporting gaps, and how should they shape the conclusions drawn?</a:t>
            </a:r>
            <a:endParaRPr lang="en-US" sz="1200" dirty="0"/>
          </a:p>
        </p:txBody>
      </p:sp>
      <p:sp>
        <p:nvSpPr>
          <p:cNvPr id="19" name="Text 17"/>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8A93A6"/>
                </a:solidFill>
                <a:latin typeface="Calibri" pitchFamily="34" charset="0"/>
                <a:ea typeface="Calibri" pitchFamily="34" charset="-122"/>
                <a:cs typeface="Calibri" pitchFamily="34" charset="-120"/>
              </a:rPr>
              <a:t>AnalystLab Africa  |  Week 4 Capstone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KPIs Defined</a:t>
            </a:r>
            <a:endParaRPr lang="en-US" sz="3200" dirty="0"/>
          </a:p>
        </p:txBody>
      </p:sp>
      <p:sp>
        <p:nvSpPr>
          <p:cNvPr id="3" name="Shape 1"/>
          <p:cNvSpPr/>
          <p:nvPr/>
        </p:nvSpPr>
        <p:spPr>
          <a:xfrm>
            <a:off x="548640" y="1463040"/>
            <a:ext cx="2697480" cy="3108960"/>
          </a:xfrm>
          <a:prstGeom prst="roundRect">
            <a:avLst>
              <a:gd name="adj" fmla="val 3390"/>
            </a:avLst>
          </a:prstGeom>
          <a:solidFill>
            <a:srgbClr val="0B1F3A"/>
          </a:solidFill>
          <a:ln/>
        </p:spPr>
      </p:sp>
      <p:sp>
        <p:nvSpPr>
          <p:cNvPr id="4" name="Text 2"/>
          <p:cNvSpPr/>
          <p:nvPr/>
        </p:nvSpPr>
        <p:spPr>
          <a:xfrm>
            <a:off x="731520" y="1783080"/>
            <a:ext cx="233172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676.58M</a:t>
            </a:r>
            <a:endParaRPr lang="en-US" sz="3000" dirty="0"/>
          </a:p>
        </p:txBody>
      </p:sp>
      <p:sp>
        <p:nvSpPr>
          <p:cNvPr id="5" name="Text 3"/>
          <p:cNvSpPr/>
          <p:nvPr/>
        </p:nvSpPr>
        <p:spPr>
          <a:xfrm>
            <a:off x="731520" y="2606040"/>
            <a:ext cx="2331720" cy="457200"/>
          </a:xfrm>
          <a:prstGeom prst="rect">
            <a:avLst/>
          </a:prstGeom>
          <a:noFill/>
          <a:ln/>
        </p:spPr>
        <p:txBody>
          <a:bodyPr wrap="square" lIns="0" tIns="0" rIns="0" bIns="0" rtlCol="0" anchor="ctr"/>
          <a:lstStyle/>
          <a:p>
            <a:pPr marL="0" indent="0">
              <a:buNone/>
            </a:pPr>
            <a:r>
              <a:rPr lang="en-US" sz="1300" b="1" dirty="0">
                <a:solidFill>
                  <a:srgbClr val="9FE1CB"/>
                </a:solidFill>
                <a:latin typeface="Calibri" pitchFamily="34" charset="0"/>
                <a:ea typeface="Calibri" pitchFamily="34" charset="-122"/>
                <a:cs typeface="Calibri" pitchFamily="34" charset="-120"/>
              </a:rPr>
              <a:t>Total Confirmed</a:t>
            </a:r>
            <a:endParaRPr lang="en-US" sz="1300" dirty="0"/>
          </a:p>
        </p:txBody>
      </p:sp>
      <p:sp>
        <p:nvSpPr>
          <p:cNvPr id="6" name="Text 4"/>
          <p:cNvSpPr/>
          <p:nvPr/>
        </p:nvSpPr>
        <p:spPr>
          <a:xfrm>
            <a:off x="731520" y="3108960"/>
            <a:ext cx="2331720" cy="1280160"/>
          </a:xfrm>
          <a:prstGeom prst="rect">
            <a:avLst/>
          </a:prstGeom>
          <a:noFill/>
          <a:ln/>
        </p:spPr>
        <p:txBody>
          <a:bodyPr wrap="square" lIns="0" tIns="0" rIns="0" bIns="0" rtlCol="0" anchor="ctr"/>
          <a:lstStyle/>
          <a:p>
            <a:pPr marL="0" indent="0">
              <a:buNone/>
            </a:pPr>
            <a:r>
              <a:rPr lang="en-US" sz="1050" dirty="0">
                <a:solidFill>
                  <a:srgbClr val="C7CEDA"/>
                </a:solidFill>
                <a:latin typeface="Calibri" pitchFamily="34" charset="0"/>
                <a:ea typeface="Calibri" pitchFamily="34" charset="-122"/>
                <a:cs typeface="Calibri" pitchFamily="34" charset="-120"/>
              </a:rPr>
              <a:t>Global cumulative cases, summed by country's latest total.</a:t>
            </a:r>
            <a:endParaRPr lang="en-US" sz="1050" dirty="0"/>
          </a:p>
        </p:txBody>
      </p:sp>
      <p:sp>
        <p:nvSpPr>
          <p:cNvPr id="7" name="Shape 5"/>
          <p:cNvSpPr/>
          <p:nvPr/>
        </p:nvSpPr>
        <p:spPr>
          <a:xfrm>
            <a:off x="3429000" y="1463040"/>
            <a:ext cx="2697480" cy="3108960"/>
          </a:xfrm>
          <a:prstGeom prst="roundRect">
            <a:avLst>
              <a:gd name="adj" fmla="val 3390"/>
            </a:avLst>
          </a:prstGeom>
          <a:solidFill>
            <a:srgbClr val="0B1F3A"/>
          </a:solidFill>
          <a:ln/>
        </p:spPr>
      </p:sp>
      <p:sp>
        <p:nvSpPr>
          <p:cNvPr id="8" name="Text 6"/>
          <p:cNvSpPr/>
          <p:nvPr/>
        </p:nvSpPr>
        <p:spPr>
          <a:xfrm>
            <a:off x="3611880" y="1783080"/>
            <a:ext cx="233172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6.88M</a:t>
            </a:r>
            <a:endParaRPr lang="en-US" sz="3000" dirty="0"/>
          </a:p>
        </p:txBody>
      </p:sp>
      <p:sp>
        <p:nvSpPr>
          <p:cNvPr id="9" name="Text 7"/>
          <p:cNvSpPr/>
          <p:nvPr/>
        </p:nvSpPr>
        <p:spPr>
          <a:xfrm>
            <a:off x="3611880" y="2606040"/>
            <a:ext cx="2331720" cy="457200"/>
          </a:xfrm>
          <a:prstGeom prst="rect">
            <a:avLst/>
          </a:prstGeom>
          <a:noFill/>
          <a:ln/>
        </p:spPr>
        <p:txBody>
          <a:bodyPr wrap="square" lIns="0" tIns="0" rIns="0" bIns="0" rtlCol="0" anchor="ctr"/>
          <a:lstStyle/>
          <a:p>
            <a:pPr marL="0" indent="0">
              <a:buNone/>
            </a:pPr>
            <a:r>
              <a:rPr lang="en-US" sz="1300" b="1" dirty="0">
                <a:solidFill>
                  <a:srgbClr val="9FE1CB"/>
                </a:solidFill>
                <a:latin typeface="Calibri" pitchFamily="34" charset="0"/>
                <a:ea typeface="Calibri" pitchFamily="34" charset="-122"/>
                <a:cs typeface="Calibri" pitchFamily="34" charset="-120"/>
              </a:rPr>
              <a:t>Total Deaths</a:t>
            </a:r>
            <a:endParaRPr lang="en-US" sz="1300" dirty="0"/>
          </a:p>
        </p:txBody>
      </p:sp>
      <p:sp>
        <p:nvSpPr>
          <p:cNvPr id="10" name="Text 8"/>
          <p:cNvSpPr/>
          <p:nvPr/>
        </p:nvSpPr>
        <p:spPr>
          <a:xfrm>
            <a:off x="3611880" y="3108960"/>
            <a:ext cx="2331720" cy="1280160"/>
          </a:xfrm>
          <a:prstGeom prst="rect">
            <a:avLst/>
          </a:prstGeom>
          <a:noFill/>
          <a:ln/>
        </p:spPr>
        <p:txBody>
          <a:bodyPr wrap="square" lIns="0" tIns="0" rIns="0" bIns="0" rtlCol="0" anchor="ctr"/>
          <a:lstStyle/>
          <a:p>
            <a:pPr marL="0" indent="0">
              <a:buNone/>
            </a:pPr>
            <a:r>
              <a:rPr lang="en-US" sz="1050" dirty="0">
                <a:solidFill>
                  <a:srgbClr val="C7CEDA"/>
                </a:solidFill>
                <a:latin typeface="Calibri" pitchFamily="34" charset="0"/>
                <a:ea typeface="Calibri" pitchFamily="34" charset="-122"/>
                <a:cs typeface="Calibri" pitchFamily="34" charset="-120"/>
              </a:rPr>
              <a:t>Global cumulative deaths, same aggregation method.</a:t>
            </a:r>
            <a:endParaRPr lang="en-US" sz="1050" dirty="0"/>
          </a:p>
        </p:txBody>
      </p:sp>
      <p:sp>
        <p:nvSpPr>
          <p:cNvPr id="11" name="Shape 9"/>
          <p:cNvSpPr/>
          <p:nvPr/>
        </p:nvSpPr>
        <p:spPr>
          <a:xfrm>
            <a:off x="6309360" y="1463040"/>
            <a:ext cx="2697480" cy="3108960"/>
          </a:xfrm>
          <a:prstGeom prst="roundRect">
            <a:avLst>
              <a:gd name="adj" fmla="val 3390"/>
            </a:avLst>
          </a:prstGeom>
          <a:solidFill>
            <a:srgbClr val="0B1F3A"/>
          </a:solidFill>
          <a:ln/>
        </p:spPr>
      </p:sp>
      <p:sp>
        <p:nvSpPr>
          <p:cNvPr id="12" name="Text 10"/>
          <p:cNvSpPr/>
          <p:nvPr/>
        </p:nvSpPr>
        <p:spPr>
          <a:xfrm>
            <a:off x="6492240" y="1783080"/>
            <a:ext cx="233172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1.02%</a:t>
            </a:r>
            <a:endParaRPr lang="en-US" sz="3000" dirty="0"/>
          </a:p>
        </p:txBody>
      </p:sp>
      <p:sp>
        <p:nvSpPr>
          <p:cNvPr id="13" name="Text 11"/>
          <p:cNvSpPr/>
          <p:nvPr/>
        </p:nvSpPr>
        <p:spPr>
          <a:xfrm>
            <a:off x="6492240" y="2606040"/>
            <a:ext cx="2331720" cy="457200"/>
          </a:xfrm>
          <a:prstGeom prst="rect">
            <a:avLst/>
          </a:prstGeom>
          <a:noFill/>
          <a:ln/>
        </p:spPr>
        <p:txBody>
          <a:bodyPr wrap="square" lIns="0" tIns="0" rIns="0" bIns="0" rtlCol="0" anchor="ctr"/>
          <a:lstStyle/>
          <a:p>
            <a:pPr marL="0" indent="0">
              <a:buNone/>
            </a:pPr>
            <a:r>
              <a:rPr lang="en-US" sz="1300" b="1" dirty="0">
                <a:solidFill>
                  <a:srgbClr val="9FE1CB"/>
                </a:solidFill>
                <a:latin typeface="Calibri" pitchFamily="34" charset="0"/>
                <a:ea typeface="Calibri" pitchFamily="34" charset="-122"/>
                <a:cs typeface="Calibri" pitchFamily="34" charset="-120"/>
              </a:rPr>
              <a:t>Death Rate %</a:t>
            </a:r>
            <a:endParaRPr lang="en-US" sz="1300" dirty="0"/>
          </a:p>
        </p:txBody>
      </p:sp>
      <p:sp>
        <p:nvSpPr>
          <p:cNvPr id="14" name="Text 12"/>
          <p:cNvSpPr/>
          <p:nvPr/>
        </p:nvSpPr>
        <p:spPr>
          <a:xfrm>
            <a:off x="6492240" y="3108960"/>
            <a:ext cx="2331720" cy="1280160"/>
          </a:xfrm>
          <a:prstGeom prst="rect">
            <a:avLst/>
          </a:prstGeom>
          <a:noFill/>
          <a:ln/>
        </p:spPr>
        <p:txBody>
          <a:bodyPr wrap="square" lIns="0" tIns="0" rIns="0" bIns="0" rtlCol="0" anchor="ctr"/>
          <a:lstStyle/>
          <a:p>
            <a:pPr marL="0" indent="0">
              <a:buNone/>
            </a:pPr>
            <a:r>
              <a:rPr lang="en-US" sz="1050" dirty="0">
                <a:solidFill>
                  <a:srgbClr val="C7CEDA"/>
                </a:solidFill>
                <a:latin typeface="Calibri" pitchFamily="34" charset="0"/>
                <a:ea typeface="Calibri" pitchFamily="34" charset="-122"/>
                <a:cs typeface="Calibri" pitchFamily="34" charset="-120"/>
              </a:rPr>
              <a:t>Deaths as a share of confirmed cases, shown on a 0-5% gauge.</a:t>
            </a:r>
            <a:endParaRPr lang="en-US" sz="1050" dirty="0"/>
          </a:p>
        </p:txBody>
      </p:sp>
      <p:sp>
        <p:nvSpPr>
          <p:cNvPr id="15" name="Shape 13"/>
          <p:cNvSpPr/>
          <p:nvPr/>
        </p:nvSpPr>
        <p:spPr>
          <a:xfrm>
            <a:off x="9189720" y="1463040"/>
            <a:ext cx="2697480" cy="3108960"/>
          </a:xfrm>
          <a:prstGeom prst="roundRect">
            <a:avLst>
              <a:gd name="adj" fmla="val 3390"/>
            </a:avLst>
          </a:prstGeom>
          <a:solidFill>
            <a:srgbClr val="0B1F3A"/>
          </a:solidFill>
          <a:ln/>
        </p:spPr>
      </p:sp>
      <p:sp>
        <p:nvSpPr>
          <p:cNvPr id="16" name="Text 14"/>
          <p:cNvSpPr/>
          <p:nvPr/>
        </p:nvSpPr>
        <p:spPr>
          <a:xfrm>
            <a:off x="9372600" y="1783080"/>
            <a:ext cx="233172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201</a:t>
            </a:r>
            <a:endParaRPr lang="en-US" sz="3000" dirty="0"/>
          </a:p>
        </p:txBody>
      </p:sp>
      <p:sp>
        <p:nvSpPr>
          <p:cNvPr id="17" name="Text 15"/>
          <p:cNvSpPr/>
          <p:nvPr/>
        </p:nvSpPr>
        <p:spPr>
          <a:xfrm>
            <a:off x="9372600" y="2606040"/>
            <a:ext cx="2331720" cy="457200"/>
          </a:xfrm>
          <a:prstGeom prst="rect">
            <a:avLst/>
          </a:prstGeom>
          <a:noFill/>
          <a:ln/>
        </p:spPr>
        <p:txBody>
          <a:bodyPr wrap="square" lIns="0" tIns="0" rIns="0" bIns="0" rtlCol="0" anchor="ctr"/>
          <a:lstStyle/>
          <a:p>
            <a:pPr marL="0" indent="0">
              <a:buNone/>
            </a:pPr>
            <a:r>
              <a:rPr lang="en-US" sz="1300" b="1" dirty="0">
                <a:solidFill>
                  <a:srgbClr val="9FE1CB"/>
                </a:solidFill>
                <a:latin typeface="Calibri" pitchFamily="34" charset="0"/>
                <a:ea typeface="Calibri" pitchFamily="34" charset="-122"/>
                <a:cs typeface="Calibri" pitchFamily="34" charset="-120"/>
              </a:rPr>
              <a:t>Countries Affected</a:t>
            </a:r>
            <a:endParaRPr lang="en-US" sz="1300" dirty="0"/>
          </a:p>
        </p:txBody>
      </p:sp>
      <p:sp>
        <p:nvSpPr>
          <p:cNvPr id="18" name="Text 16"/>
          <p:cNvSpPr/>
          <p:nvPr/>
        </p:nvSpPr>
        <p:spPr>
          <a:xfrm>
            <a:off x="9372600" y="3108960"/>
            <a:ext cx="2331720" cy="1280160"/>
          </a:xfrm>
          <a:prstGeom prst="rect">
            <a:avLst/>
          </a:prstGeom>
          <a:noFill/>
          <a:ln/>
        </p:spPr>
        <p:txBody>
          <a:bodyPr wrap="square" lIns="0" tIns="0" rIns="0" bIns="0" rtlCol="0" anchor="ctr"/>
          <a:lstStyle/>
          <a:p>
            <a:pPr marL="0" indent="0">
              <a:buNone/>
            </a:pPr>
            <a:r>
              <a:rPr lang="en-US" sz="1050" dirty="0">
                <a:solidFill>
                  <a:srgbClr val="C7CEDA"/>
                </a:solidFill>
                <a:latin typeface="Calibri" pitchFamily="34" charset="0"/>
                <a:ea typeface="Calibri" pitchFamily="34" charset="-122"/>
                <a:cs typeface="Calibri" pitchFamily="34" charset="-120"/>
              </a:rPr>
              <a:t>Distinct count of countries and regions with reported cases.</a:t>
            </a:r>
            <a:endParaRPr lang="en-US" sz="1050" dirty="0"/>
          </a:p>
        </p:txBody>
      </p:sp>
      <p:sp>
        <p:nvSpPr>
          <p:cNvPr id="19" name="Text 17"/>
          <p:cNvSpPr/>
          <p:nvPr/>
        </p:nvSpPr>
        <p:spPr>
          <a:xfrm>
            <a:off x="548640" y="4892040"/>
            <a:ext cx="2743200" cy="32004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Design note</a:t>
            </a:r>
            <a:endParaRPr lang="en-US" sz="1200" dirty="0"/>
          </a:p>
        </p:txBody>
      </p:sp>
      <p:sp>
        <p:nvSpPr>
          <p:cNvPr id="20" name="Text 18"/>
          <p:cNvSpPr/>
          <p:nvPr/>
        </p:nvSpPr>
        <p:spPr>
          <a:xfrm>
            <a:off x="548640" y="5212080"/>
            <a:ext cx="10881360" cy="64008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Growth indicators use inverted color logic: rising cases and deaths are flagged red, since an increase is the unfavorable outcome here, opposite of a typical sales dashboard.</a:t>
            </a:r>
            <a:endParaRPr lang="en-US" sz="1150" dirty="0"/>
          </a:p>
        </p:txBody>
      </p:sp>
      <p:sp>
        <p:nvSpPr>
          <p:cNvPr id="21" name="Text 19"/>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AnalystLab Africa  |  Week 4 Capstone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lIns="0" tIns="0" rIns="0" bIns="0" rtlCol="0" anchor="ctr"/>
          <a:lstStyle/>
          <a:p>
            <a:pPr marL="0" indent="0">
              <a:buNone/>
            </a:pPr>
            <a:r>
              <a:rPr lang="en-US" sz="2600" b="1" dirty="0">
                <a:solidFill>
                  <a:srgbClr val="1A1A1A"/>
                </a:solidFill>
                <a:latin typeface="Cambria" pitchFamily="34" charset="0"/>
                <a:ea typeface="Cambria" pitchFamily="34" charset="-122"/>
                <a:cs typeface="Cambria" pitchFamily="34" charset="-120"/>
              </a:rPr>
              <a:t>Dashboard: Global Spread &amp; Trend</a:t>
            </a:r>
            <a:endParaRPr lang="en-US" sz="2600" dirty="0"/>
          </a:p>
        </p:txBody>
      </p:sp>
      <p:sp>
        <p:nvSpPr>
          <p:cNvPr id="3" name="Text 1"/>
          <p:cNvSpPr/>
          <p:nvPr/>
        </p:nvSpPr>
        <p:spPr>
          <a:xfrm>
            <a:off x="548640" y="896112"/>
            <a:ext cx="91440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Page 1 — KPI overview, daily new cases, and cumulative growth</a:t>
            </a:r>
            <a:endParaRPr lang="en-US" sz="1300" dirty="0"/>
          </a:p>
        </p:txBody>
      </p:sp>
      <p:sp>
        <p:nvSpPr>
          <p:cNvPr id="5" name="Text 2"/>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AnalystLab Africa  |  Week 4 Capstone  |  5</a:t>
            </a:r>
            <a:endParaRPr lang="en-US" sz="900" dirty="0"/>
          </a:p>
        </p:txBody>
      </p:sp>
      <p:pic>
        <p:nvPicPr>
          <p:cNvPr id="7" name="Picture 6">
            <a:extLst>
              <a:ext uri="{FF2B5EF4-FFF2-40B4-BE49-F238E27FC236}">
                <a16:creationId xmlns:a16="http://schemas.microsoft.com/office/drawing/2014/main" id="{AA2A4EFA-A1D8-F96E-5CF6-4E69A9F1F370}"/>
              </a:ext>
            </a:extLst>
          </p:cNvPr>
          <p:cNvPicPr>
            <a:picLocks noChangeAspect="1"/>
          </p:cNvPicPr>
          <p:nvPr/>
        </p:nvPicPr>
        <p:blipFill>
          <a:blip r:embed="rId3"/>
          <a:stretch>
            <a:fillRect/>
          </a:stretch>
        </p:blipFill>
        <p:spPr>
          <a:xfrm>
            <a:off x="548640" y="1245144"/>
            <a:ext cx="9250066" cy="52013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8"/>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lIns="0" tIns="0" rIns="0" bIns="0" rtlCol="0" anchor="ctr"/>
          <a:lstStyle/>
          <a:p>
            <a:pPr marL="0" indent="0">
              <a:buNone/>
            </a:pPr>
            <a:r>
              <a:rPr lang="en-US" sz="2600" b="1" dirty="0">
                <a:solidFill>
                  <a:srgbClr val="1A1A1A"/>
                </a:solidFill>
                <a:latin typeface="Cambria" pitchFamily="34" charset="0"/>
                <a:ea typeface="Cambria" pitchFamily="34" charset="-122"/>
                <a:cs typeface="Cambria" pitchFamily="34" charset="-120"/>
              </a:rPr>
              <a:t>Dashboard: Severity &amp; Country Comparison</a:t>
            </a:r>
            <a:endParaRPr lang="en-US" sz="2600" dirty="0"/>
          </a:p>
        </p:txBody>
      </p:sp>
      <p:sp>
        <p:nvSpPr>
          <p:cNvPr id="3" name="Text 1"/>
          <p:cNvSpPr/>
          <p:nvPr/>
        </p:nvSpPr>
        <p:spPr>
          <a:xfrm>
            <a:off x="548640" y="896112"/>
            <a:ext cx="91440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Page 2 — Death rate severity, case volume, and outcome breakdown</a:t>
            </a:r>
            <a:endParaRPr lang="en-US" sz="1300" dirty="0"/>
          </a:p>
        </p:txBody>
      </p:sp>
      <p:sp>
        <p:nvSpPr>
          <p:cNvPr id="5" name="Text 2"/>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AnalystLab Africa  |  Week 4 Capstone  |  6</a:t>
            </a:r>
            <a:endParaRPr lang="en-US" sz="900" dirty="0"/>
          </a:p>
        </p:txBody>
      </p:sp>
      <p:pic>
        <p:nvPicPr>
          <p:cNvPr id="7" name="Picture 6">
            <a:extLst>
              <a:ext uri="{FF2B5EF4-FFF2-40B4-BE49-F238E27FC236}">
                <a16:creationId xmlns:a16="http://schemas.microsoft.com/office/drawing/2014/main" id="{5920954E-3B0C-0B72-A05B-D52D0703320C}"/>
              </a:ext>
            </a:extLst>
          </p:cNvPr>
          <p:cNvPicPr>
            <a:picLocks noChangeAspect="1"/>
          </p:cNvPicPr>
          <p:nvPr/>
        </p:nvPicPr>
        <p:blipFill>
          <a:blip r:embed="rId3"/>
          <a:stretch>
            <a:fillRect/>
          </a:stretch>
        </p:blipFill>
        <p:spPr>
          <a:xfrm>
            <a:off x="548641" y="1261872"/>
            <a:ext cx="9144000" cy="51179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Key Insights</a:t>
            </a:r>
            <a:endParaRPr lang="en-US" sz="3200" dirty="0"/>
          </a:p>
        </p:txBody>
      </p:sp>
      <p:sp>
        <p:nvSpPr>
          <p:cNvPr id="3" name="Shape 1"/>
          <p:cNvSpPr/>
          <p:nvPr/>
        </p:nvSpPr>
        <p:spPr>
          <a:xfrm>
            <a:off x="548640" y="1417320"/>
            <a:ext cx="73152" cy="1051560"/>
          </a:xfrm>
          <a:prstGeom prst="rect">
            <a:avLst/>
          </a:prstGeom>
          <a:solidFill>
            <a:srgbClr val="0F6E56"/>
          </a:solidFill>
          <a:ln/>
        </p:spPr>
      </p:sp>
      <p:sp>
        <p:nvSpPr>
          <p:cNvPr id="4" name="Text 2"/>
          <p:cNvSpPr/>
          <p:nvPr/>
        </p:nvSpPr>
        <p:spPr>
          <a:xfrm>
            <a:off x="822960" y="1399032"/>
            <a:ext cx="1828800" cy="274320"/>
          </a:xfrm>
          <a:prstGeom prst="rect">
            <a:avLst/>
          </a:prstGeom>
          <a:noFill/>
          <a:ln/>
        </p:spPr>
        <p:txBody>
          <a:bodyPr wrap="square" lIns="0" tIns="0" rIns="0" bIns="0" rtlCol="0" anchor="ctr"/>
          <a:lstStyle/>
          <a:p>
            <a:pPr marL="0" indent="0">
              <a:buNone/>
            </a:pPr>
            <a:r>
              <a:rPr lang="en-US" sz="900" b="1" dirty="0">
                <a:solidFill>
                  <a:srgbClr val="0F6E56"/>
                </a:solidFill>
                <a:latin typeface="Calibri" pitchFamily="34" charset="0"/>
                <a:ea typeface="Calibri" pitchFamily="34" charset="-122"/>
                <a:cs typeface="Calibri" pitchFamily="34" charset="-120"/>
              </a:rPr>
              <a:t>TREND</a:t>
            </a:r>
            <a:endParaRPr lang="en-US" sz="900" dirty="0"/>
          </a:p>
        </p:txBody>
      </p:sp>
      <p:sp>
        <p:nvSpPr>
          <p:cNvPr id="5" name="Text 3"/>
          <p:cNvSpPr/>
          <p:nvPr/>
        </p:nvSpPr>
        <p:spPr>
          <a:xfrm>
            <a:off x="822960" y="1636776"/>
            <a:ext cx="10515600" cy="36576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Case growth was concentrated in distinct waves</a:t>
            </a:r>
            <a:endParaRPr lang="en-US" sz="1450" dirty="0"/>
          </a:p>
        </p:txBody>
      </p:sp>
      <p:sp>
        <p:nvSpPr>
          <p:cNvPr id="6" name="Text 4"/>
          <p:cNvSpPr/>
          <p:nvPr/>
        </p:nvSpPr>
        <p:spPr>
          <a:xfrm>
            <a:off x="822960" y="1984248"/>
            <a:ext cx="10607040" cy="5029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Daily New Cases chart shows a dominant peak in January 2022, far above every prior wave, consistent with the Omicron surge.</a:t>
            </a:r>
            <a:endParaRPr lang="en-US" sz="1150" dirty="0"/>
          </a:p>
        </p:txBody>
      </p:sp>
      <p:sp>
        <p:nvSpPr>
          <p:cNvPr id="7" name="Shape 5"/>
          <p:cNvSpPr/>
          <p:nvPr/>
        </p:nvSpPr>
        <p:spPr>
          <a:xfrm>
            <a:off x="548640" y="2624328"/>
            <a:ext cx="73152" cy="1051560"/>
          </a:xfrm>
          <a:prstGeom prst="rect">
            <a:avLst/>
          </a:prstGeom>
          <a:solidFill>
            <a:srgbClr val="0F6E56"/>
          </a:solidFill>
          <a:ln/>
        </p:spPr>
      </p:sp>
      <p:sp>
        <p:nvSpPr>
          <p:cNvPr id="8" name="Text 6"/>
          <p:cNvSpPr/>
          <p:nvPr/>
        </p:nvSpPr>
        <p:spPr>
          <a:xfrm>
            <a:off x="822960" y="2606040"/>
            <a:ext cx="1828800" cy="274320"/>
          </a:xfrm>
          <a:prstGeom prst="rect">
            <a:avLst/>
          </a:prstGeom>
          <a:noFill/>
          <a:ln/>
        </p:spPr>
        <p:txBody>
          <a:bodyPr wrap="square" lIns="0" tIns="0" rIns="0" bIns="0" rtlCol="0" anchor="ctr"/>
          <a:lstStyle/>
          <a:p>
            <a:pPr marL="0" indent="0">
              <a:buNone/>
            </a:pPr>
            <a:r>
              <a:rPr lang="en-US" sz="900" b="1" dirty="0">
                <a:solidFill>
                  <a:srgbClr val="0F6E56"/>
                </a:solidFill>
                <a:latin typeface="Calibri" pitchFamily="34" charset="0"/>
                <a:ea typeface="Calibri" pitchFamily="34" charset="-122"/>
                <a:cs typeface="Calibri" pitchFamily="34" charset="-120"/>
              </a:rPr>
              <a:t>SEVERITY</a:t>
            </a:r>
            <a:endParaRPr lang="en-US" sz="900" dirty="0"/>
          </a:p>
        </p:txBody>
      </p:sp>
      <p:sp>
        <p:nvSpPr>
          <p:cNvPr id="9" name="Text 7"/>
          <p:cNvSpPr/>
          <p:nvPr/>
        </p:nvSpPr>
        <p:spPr>
          <a:xfrm>
            <a:off x="822960" y="2843784"/>
            <a:ext cx="10515600" cy="36576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Case volume does not predict severity</a:t>
            </a:r>
            <a:endParaRPr lang="en-US" sz="1450" dirty="0"/>
          </a:p>
        </p:txBody>
      </p:sp>
      <p:sp>
        <p:nvSpPr>
          <p:cNvPr id="10" name="Text 8"/>
          <p:cNvSpPr/>
          <p:nvPr/>
        </p:nvSpPr>
        <p:spPr>
          <a:xfrm>
            <a:off x="822960" y="3191256"/>
            <a:ext cx="10607040" cy="5029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US and India lead in confirmed cases but sit at moderate death rates. Yemen, with far fewer confirmed cases, recorded the highest death rate at 18.07%.</a:t>
            </a:r>
            <a:endParaRPr lang="en-US" sz="1150" dirty="0"/>
          </a:p>
        </p:txBody>
      </p:sp>
      <p:sp>
        <p:nvSpPr>
          <p:cNvPr id="11" name="Shape 9"/>
          <p:cNvSpPr/>
          <p:nvPr/>
        </p:nvSpPr>
        <p:spPr>
          <a:xfrm>
            <a:off x="548640" y="3831336"/>
            <a:ext cx="73152" cy="1051560"/>
          </a:xfrm>
          <a:prstGeom prst="rect">
            <a:avLst/>
          </a:prstGeom>
          <a:solidFill>
            <a:srgbClr val="0F6E56"/>
          </a:solidFill>
          <a:ln/>
        </p:spPr>
      </p:sp>
      <p:sp>
        <p:nvSpPr>
          <p:cNvPr id="12" name="Text 10"/>
          <p:cNvSpPr/>
          <p:nvPr/>
        </p:nvSpPr>
        <p:spPr>
          <a:xfrm>
            <a:off x="822960" y="3813048"/>
            <a:ext cx="1828800" cy="274320"/>
          </a:xfrm>
          <a:prstGeom prst="rect">
            <a:avLst/>
          </a:prstGeom>
          <a:noFill/>
          <a:ln/>
        </p:spPr>
        <p:txBody>
          <a:bodyPr wrap="square" lIns="0" tIns="0" rIns="0" bIns="0" rtlCol="0" anchor="ctr"/>
          <a:lstStyle/>
          <a:p>
            <a:pPr marL="0" indent="0">
              <a:buNone/>
            </a:pPr>
            <a:r>
              <a:rPr lang="en-US" sz="900" b="1" dirty="0">
                <a:solidFill>
                  <a:srgbClr val="0F6E56"/>
                </a:solidFill>
                <a:latin typeface="Calibri" pitchFamily="34" charset="0"/>
                <a:ea typeface="Calibri" pitchFamily="34" charset="-122"/>
                <a:cs typeface="Calibri" pitchFamily="34" charset="-120"/>
              </a:rPr>
              <a:t>DATA QUALITY</a:t>
            </a:r>
            <a:endParaRPr lang="en-US" sz="900" dirty="0"/>
          </a:p>
        </p:txBody>
      </p:sp>
      <p:sp>
        <p:nvSpPr>
          <p:cNvPr id="13" name="Text 11"/>
          <p:cNvSpPr/>
          <p:nvPr/>
        </p:nvSpPr>
        <p:spPr>
          <a:xfrm>
            <a:off x="822960" y="4050792"/>
            <a:ext cx="10515600" cy="36576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78.7% of confirmed cases remain unresolved in the data</a:t>
            </a:r>
            <a:endParaRPr lang="en-US" sz="1450" dirty="0"/>
          </a:p>
        </p:txBody>
      </p:sp>
      <p:sp>
        <p:nvSpPr>
          <p:cNvPr id="14" name="Text 12"/>
          <p:cNvSpPr/>
          <p:nvPr/>
        </p:nvSpPr>
        <p:spPr>
          <a:xfrm>
            <a:off x="822960" y="4398264"/>
            <a:ext cx="10607040" cy="5029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Only 20.3% of cases are recorded as recovered and 1.0% as deaths. This gap reflects inconsistent recovery reporting, not an actual pandemic outcome.</a:t>
            </a:r>
            <a:endParaRPr lang="en-US" sz="1150" dirty="0"/>
          </a:p>
        </p:txBody>
      </p:sp>
      <p:sp>
        <p:nvSpPr>
          <p:cNvPr id="15" name="Shape 13"/>
          <p:cNvSpPr/>
          <p:nvPr/>
        </p:nvSpPr>
        <p:spPr>
          <a:xfrm>
            <a:off x="548640" y="5038344"/>
            <a:ext cx="73152" cy="1051560"/>
          </a:xfrm>
          <a:prstGeom prst="rect">
            <a:avLst/>
          </a:prstGeom>
          <a:solidFill>
            <a:srgbClr val="0F6E56"/>
          </a:solidFill>
          <a:ln/>
        </p:spPr>
      </p:sp>
      <p:sp>
        <p:nvSpPr>
          <p:cNvPr id="16" name="Text 14"/>
          <p:cNvSpPr/>
          <p:nvPr/>
        </p:nvSpPr>
        <p:spPr>
          <a:xfrm>
            <a:off x="822960" y="5020056"/>
            <a:ext cx="1828800" cy="274320"/>
          </a:xfrm>
          <a:prstGeom prst="rect">
            <a:avLst/>
          </a:prstGeom>
          <a:noFill/>
          <a:ln/>
        </p:spPr>
        <p:txBody>
          <a:bodyPr wrap="square" lIns="0" tIns="0" rIns="0" bIns="0" rtlCol="0" anchor="ctr"/>
          <a:lstStyle/>
          <a:p>
            <a:pPr marL="0" indent="0">
              <a:buNone/>
            </a:pPr>
            <a:r>
              <a:rPr lang="en-US" sz="900" b="1" dirty="0">
                <a:solidFill>
                  <a:srgbClr val="0F6E56"/>
                </a:solidFill>
                <a:latin typeface="Calibri" pitchFamily="34" charset="0"/>
                <a:ea typeface="Calibri" pitchFamily="34" charset="-122"/>
                <a:cs typeface="Calibri" pitchFamily="34" charset="-120"/>
              </a:rPr>
              <a:t>SEVERITY</a:t>
            </a:r>
            <a:endParaRPr lang="en-US" sz="900" dirty="0"/>
          </a:p>
        </p:txBody>
      </p:sp>
      <p:sp>
        <p:nvSpPr>
          <p:cNvPr id="17" name="Text 15"/>
          <p:cNvSpPr/>
          <p:nvPr/>
        </p:nvSpPr>
        <p:spPr>
          <a:xfrm>
            <a:off x="822960" y="5257800"/>
            <a:ext cx="10515600" cy="36576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Severity is concentrated outside the highest-volume countries</a:t>
            </a:r>
            <a:endParaRPr lang="en-US" sz="1450" dirty="0"/>
          </a:p>
        </p:txBody>
      </p:sp>
      <p:sp>
        <p:nvSpPr>
          <p:cNvPr id="18" name="Text 16"/>
          <p:cNvSpPr/>
          <p:nvPr/>
        </p:nvSpPr>
        <p:spPr>
          <a:xfrm>
            <a:off x="822960" y="5605272"/>
            <a:ext cx="10607040" cy="5029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Sudan, Somalia, Syria, and Peru all posted death rates above 4%, well above the 1.02% global average, despite comparatively low case counts.</a:t>
            </a:r>
            <a:endParaRPr lang="en-US" sz="1150" dirty="0"/>
          </a:p>
        </p:txBody>
      </p:sp>
      <p:sp>
        <p:nvSpPr>
          <p:cNvPr id="19" name="Text 17"/>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AnalystLab Africa  |  Week 4 Capstone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50292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Recommendations</a:t>
            </a:r>
            <a:endParaRPr lang="en-US" sz="3200" dirty="0"/>
          </a:p>
        </p:txBody>
      </p:sp>
      <p:sp>
        <p:nvSpPr>
          <p:cNvPr id="3" name="Shape 1"/>
          <p:cNvSpPr/>
          <p:nvPr/>
        </p:nvSpPr>
        <p:spPr>
          <a:xfrm>
            <a:off x="548640" y="1417320"/>
            <a:ext cx="11064240" cy="1051560"/>
          </a:xfrm>
          <a:prstGeom prst="roundRect">
            <a:avLst>
              <a:gd name="adj" fmla="val 6957"/>
            </a:avLst>
          </a:prstGeom>
          <a:solidFill>
            <a:srgbClr val="14213D"/>
          </a:solidFill>
          <a:ln/>
        </p:spPr>
      </p:sp>
      <p:sp>
        <p:nvSpPr>
          <p:cNvPr id="4" name="Shape 2"/>
          <p:cNvSpPr/>
          <p:nvPr/>
        </p:nvSpPr>
        <p:spPr>
          <a:xfrm>
            <a:off x="777240" y="1709928"/>
            <a:ext cx="457200" cy="457200"/>
          </a:xfrm>
          <a:prstGeom prst="ellipse">
            <a:avLst/>
          </a:prstGeom>
          <a:solidFill>
            <a:srgbClr val="0F6E56"/>
          </a:solidFill>
          <a:ln/>
        </p:spPr>
      </p:sp>
      <p:sp>
        <p:nvSpPr>
          <p:cNvPr id="5" name="Text 3"/>
          <p:cNvSpPr/>
          <p:nvPr/>
        </p:nvSpPr>
        <p:spPr>
          <a:xfrm>
            <a:off x="777240" y="17099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17320" y="1554480"/>
            <a:ext cx="9966960" cy="777240"/>
          </a:xfrm>
          <a:prstGeom prst="rect">
            <a:avLst/>
          </a:prstGeom>
          <a:noFill/>
          <a:ln/>
        </p:spPr>
        <p:txBody>
          <a:bodyPr wrap="square" lIns="0" tIns="0" rIns="0" bIns="0" rtlCol="0" anchor="ctr"/>
          <a:lstStyle/>
          <a:p>
            <a:pPr marL="0" indent="0">
              <a:buNone/>
            </a:pPr>
            <a:r>
              <a:rPr lang="en-US" sz="1250" dirty="0">
                <a:solidFill>
                  <a:srgbClr val="E8ECF3"/>
                </a:solidFill>
                <a:latin typeface="Calibri" pitchFamily="34" charset="0"/>
                <a:ea typeface="Calibri" pitchFamily="34" charset="-122"/>
                <a:cs typeface="Calibri" pitchFamily="34" charset="-120"/>
              </a:rPr>
              <a:t>Treat death rate, not case count alone, as the primary severity signal when prioritizing aid or resource allocation.</a:t>
            </a:r>
            <a:endParaRPr lang="en-US" sz="1250" dirty="0"/>
          </a:p>
        </p:txBody>
      </p:sp>
      <p:sp>
        <p:nvSpPr>
          <p:cNvPr id="7" name="Shape 5"/>
          <p:cNvSpPr/>
          <p:nvPr/>
        </p:nvSpPr>
        <p:spPr>
          <a:xfrm>
            <a:off x="548640" y="2624328"/>
            <a:ext cx="11064240" cy="1051560"/>
          </a:xfrm>
          <a:prstGeom prst="roundRect">
            <a:avLst>
              <a:gd name="adj" fmla="val 6957"/>
            </a:avLst>
          </a:prstGeom>
          <a:solidFill>
            <a:srgbClr val="14213D"/>
          </a:solidFill>
          <a:ln/>
        </p:spPr>
      </p:sp>
      <p:sp>
        <p:nvSpPr>
          <p:cNvPr id="8" name="Shape 6"/>
          <p:cNvSpPr/>
          <p:nvPr/>
        </p:nvSpPr>
        <p:spPr>
          <a:xfrm>
            <a:off x="777240" y="2916936"/>
            <a:ext cx="457200" cy="457200"/>
          </a:xfrm>
          <a:prstGeom prst="ellipse">
            <a:avLst/>
          </a:prstGeom>
          <a:solidFill>
            <a:srgbClr val="0F6E56"/>
          </a:solidFill>
          <a:ln/>
        </p:spPr>
      </p:sp>
      <p:sp>
        <p:nvSpPr>
          <p:cNvPr id="9" name="Text 7"/>
          <p:cNvSpPr/>
          <p:nvPr/>
        </p:nvSpPr>
        <p:spPr>
          <a:xfrm>
            <a:off x="777240" y="291693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417320" y="2761488"/>
            <a:ext cx="9966960" cy="777240"/>
          </a:xfrm>
          <a:prstGeom prst="rect">
            <a:avLst/>
          </a:prstGeom>
          <a:noFill/>
          <a:ln/>
        </p:spPr>
        <p:txBody>
          <a:bodyPr wrap="square" lIns="0" tIns="0" rIns="0" bIns="0" rtlCol="0" anchor="ctr"/>
          <a:lstStyle/>
          <a:p>
            <a:pPr marL="0" indent="0">
              <a:buNone/>
            </a:pPr>
            <a:r>
              <a:rPr lang="en-US" sz="1250" dirty="0">
                <a:solidFill>
                  <a:srgbClr val="E8ECF3"/>
                </a:solidFill>
                <a:latin typeface="Calibri" pitchFamily="34" charset="0"/>
                <a:ea typeface="Calibri" pitchFamily="34" charset="-122"/>
                <a:cs typeface="Calibri" pitchFamily="34" charset="-120"/>
              </a:rPr>
              <a:t>Flag Recovered-based metrics as directional only; do not use them for country-level policy decisions without cross-checking a second source.</a:t>
            </a:r>
            <a:endParaRPr lang="en-US" sz="1250" dirty="0"/>
          </a:p>
        </p:txBody>
      </p:sp>
      <p:sp>
        <p:nvSpPr>
          <p:cNvPr id="11" name="Shape 9"/>
          <p:cNvSpPr/>
          <p:nvPr/>
        </p:nvSpPr>
        <p:spPr>
          <a:xfrm>
            <a:off x="548640" y="3831336"/>
            <a:ext cx="11064240" cy="1051560"/>
          </a:xfrm>
          <a:prstGeom prst="roundRect">
            <a:avLst>
              <a:gd name="adj" fmla="val 6957"/>
            </a:avLst>
          </a:prstGeom>
          <a:solidFill>
            <a:srgbClr val="14213D"/>
          </a:solidFill>
          <a:ln/>
        </p:spPr>
      </p:sp>
      <p:sp>
        <p:nvSpPr>
          <p:cNvPr id="12" name="Shape 10"/>
          <p:cNvSpPr/>
          <p:nvPr/>
        </p:nvSpPr>
        <p:spPr>
          <a:xfrm>
            <a:off x="777240" y="4123944"/>
            <a:ext cx="457200" cy="457200"/>
          </a:xfrm>
          <a:prstGeom prst="ellipse">
            <a:avLst/>
          </a:prstGeom>
          <a:solidFill>
            <a:srgbClr val="0F6E56"/>
          </a:solidFill>
          <a:ln/>
        </p:spPr>
      </p:sp>
      <p:sp>
        <p:nvSpPr>
          <p:cNvPr id="13" name="Text 11"/>
          <p:cNvSpPr/>
          <p:nvPr/>
        </p:nvSpPr>
        <p:spPr>
          <a:xfrm>
            <a:off x="777240" y="41239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417320" y="3968496"/>
            <a:ext cx="9966960" cy="777240"/>
          </a:xfrm>
          <a:prstGeom prst="rect">
            <a:avLst/>
          </a:prstGeom>
          <a:noFill/>
          <a:ln/>
        </p:spPr>
        <p:txBody>
          <a:bodyPr wrap="square" lIns="0" tIns="0" rIns="0" bIns="0" rtlCol="0" anchor="ctr"/>
          <a:lstStyle/>
          <a:p>
            <a:pPr marL="0" indent="0">
              <a:buNone/>
            </a:pPr>
            <a:r>
              <a:rPr lang="en-US" sz="1250" dirty="0">
                <a:solidFill>
                  <a:srgbClr val="E8ECF3"/>
                </a:solidFill>
                <a:latin typeface="Calibri" pitchFamily="34" charset="0"/>
                <a:ea typeface="Calibri" pitchFamily="34" charset="-122"/>
                <a:cs typeface="Calibri" pitchFamily="34" charset="-120"/>
              </a:rPr>
              <a:t>Prioritize monitoring in countries with low case volume but elevated death rate, as they may reflect limited testing capacity rather than lower actual spread.</a:t>
            </a:r>
            <a:endParaRPr lang="en-US" sz="1250" dirty="0"/>
          </a:p>
        </p:txBody>
      </p:sp>
      <p:sp>
        <p:nvSpPr>
          <p:cNvPr id="15" name="Shape 13"/>
          <p:cNvSpPr/>
          <p:nvPr/>
        </p:nvSpPr>
        <p:spPr>
          <a:xfrm>
            <a:off x="548640" y="5038344"/>
            <a:ext cx="11064240" cy="1051560"/>
          </a:xfrm>
          <a:prstGeom prst="roundRect">
            <a:avLst>
              <a:gd name="adj" fmla="val 6957"/>
            </a:avLst>
          </a:prstGeom>
          <a:solidFill>
            <a:srgbClr val="14213D"/>
          </a:solidFill>
          <a:ln/>
        </p:spPr>
      </p:sp>
      <p:sp>
        <p:nvSpPr>
          <p:cNvPr id="16" name="Shape 14"/>
          <p:cNvSpPr/>
          <p:nvPr/>
        </p:nvSpPr>
        <p:spPr>
          <a:xfrm>
            <a:off x="777240" y="5330952"/>
            <a:ext cx="457200" cy="457200"/>
          </a:xfrm>
          <a:prstGeom prst="ellipse">
            <a:avLst/>
          </a:prstGeom>
          <a:solidFill>
            <a:srgbClr val="0F6E56"/>
          </a:solidFill>
          <a:ln/>
        </p:spPr>
      </p:sp>
      <p:sp>
        <p:nvSpPr>
          <p:cNvPr id="17" name="Text 15"/>
          <p:cNvSpPr/>
          <p:nvPr/>
        </p:nvSpPr>
        <p:spPr>
          <a:xfrm>
            <a:off x="777240" y="53309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417320" y="5175504"/>
            <a:ext cx="9966960" cy="777240"/>
          </a:xfrm>
          <a:prstGeom prst="rect">
            <a:avLst/>
          </a:prstGeom>
          <a:noFill/>
          <a:ln/>
        </p:spPr>
        <p:txBody>
          <a:bodyPr wrap="square" lIns="0" tIns="0" rIns="0" bIns="0" rtlCol="0" anchor="ctr"/>
          <a:lstStyle/>
          <a:p>
            <a:pPr marL="0" indent="0">
              <a:buNone/>
            </a:pPr>
            <a:r>
              <a:rPr lang="en-US" sz="1250" dirty="0">
                <a:solidFill>
                  <a:srgbClr val="E8ECF3"/>
                </a:solidFill>
                <a:latin typeface="Calibri" pitchFamily="34" charset="0"/>
                <a:ea typeface="Calibri" pitchFamily="34" charset="-122"/>
                <a:cs typeface="Calibri" pitchFamily="34" charset="-120"/>
              </a:rPr>
              <a:t>Apply a minimum case-count threshold before comparing death rates across countries, since small denominators produce statistically unstable percentages.</a:t>
            </a:r>
            <a:endParaRPr lang="en-US" sz="1250" dirty="0"/>
          </a:p>
        </p:txBody>
      </p:sp>
      <p:sp>
        <p:nvSpPr>
          <p:cNvPr id="19" name="Text 17"/>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8A93A6"/>
                </a:solidFill>
                <a:latin typeface="Calibri" pitchFamily="34" charset="0"/>
                <a:ea typeface="Calibri" pitchFamily="34" charset="-122"/>
                <a:cs typeface="Calibri" pitchFamily="34" charset="-120"/>
              </a:rPr>
              <a:t>AnalystLab Africa  |  Week 4 Capstone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Challenges Faced</a:t>
            </a:r>
            <a:endParaRPr lang="en-US" sz="3200" dirty="0"/>
          </a:p>
        </p:txBody>
      </p:sp>
      <p:sp>
        <p:nvSpPr>
          <p:cNvPr id="3" name="Shape 1"/>
          <p:cNvSpPr/>
          <p:nvPr/>
        </p:nvSpPr>
        <p:spPr>
          <a:xfrm>
            <a:off x="548640" y="1417320"/>
            <a:ext cx="11064240" cy="1097280"/>
          </a:xfrm>
          <a:prstGeom prst="roundRect">
            <a:avLst>
              <a:gd name="adj" fmla="val 6667"/>
            </a:avLst>
          </a:prstGeom>
          <a:solidFill>
            <a:srgbClr val="F5F7F8"/>
          </a:solidFill>
          <a:ln/>
        </p:spPr>
      </p:sp>
      <p:sp>
        <p:nvSpPr>
          <p:cNvPr id="4" name="Text 2"/>
          <p:cNvSpPr/>
          <p:nvPr/>
        </p:nvSpPr>
        <p:spPr>
          <a:xfrm>
            <a:off x="822960" y="1527048"/>
            <a:ext cx="10424160" cy="320040"/>
          </a:xfrm>
          <a:prstGeom prst="rect">
            <a:avLst/>
          </a:prstGeom>
          <a:noFill/>
          <a:ln/>
        </p:spPr>
        <p:txBody>
          <a:bodyPr wrap="square" lIns="0" tIns="0" rIns="0" bIns="0" rtlCol="0" anchor="ctr"/>
          <a:lstStyle/>
          <a:p>
            <a:pPr marL="0" indent="0">
              <a:buNone/>
            </a:pPr>
            <a:r>
              <a:rPr lang="en-US" sz="1350" b="1" dirty="0">
                <a:solidFill>
                  <a:srgbClr val="E24B4A"/>
                </a:solidFill>
                <a:latin typeface="Calibri" pitchFamily="34" charset="0"/>
                <a:ea typeface="Calibri" pitchFamily="34" charset="-122"/>
                <a:cs typeface="Calibri" pitchFamily="34" charset="-120"/>
              </a:rPr>
              <a:t>Aggregation bug undercounted global totals</a:t>
            </a:r>
            <a:endParaRPr lang="en-US" sz="1350" dirty="0"/>
          </a:p>
        </p:txBody>
      </p:sp>
      <p:sp>
        <p:nvSpPr>
          <p:cNvPr id="5" name="Text 3"/>
          <p:cNvSpPr/>
          <p:nvPr/>
        </p:nvSpPr>
        <p:spPr>
          <a:xfrm>
            <a:off x="822960" y="1874520"/>
            <a:ext cx="1042416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An early measure used MAX() alone, which returned one country's total instead of the world's. Fixed with SUMX(VALUES(...), CALCULATE(MAX(...))) to correctly sum each country's latest cumulative value.</a:t>
            </a:r>
            <a:endParaRPr lang="en-US" sz="1100" dirty="0"/>
          </a:p>
        </p:txBody>
      </p:sp>
      <p:sp>
        <p:nvSpPr>
          <p:cNvPr id="6" name="Shape 4"/>
          <p:cNvSpPr/>
          <p:nvPr/>
        </p:nvSpPr>
        <p:spPr>
          <a:xfrm>
            <a:off x="548640" y="2679192"/>
            <a:ext cx="11064240" cy="1097280"/>
          </a:xfrm>
          <a:prstGeom prst="roundRect">
            <a:avLst>
              <a:gd name="adj" fmla="val 6667"/>
            </a:avLst>
          </a:prstGeom>
          <a:solidFill>
            <a:srgbClr val="F5F7F8"/>
          </a:solidFill>
          <a:ln/>
        </p:spPr>
      </p:sp>
      <p:sp>
        <p:nvSpPr>
          <p:cNvPr id="7" name="Text 5"/>
          <p:cNvSpPr/>
          <p:nvPr/>
        </p:nvSpPr>
        <p:spPr>
          <a:xfrm>
            <a:off x="822960" y="2788920"/>
            <a:ext cx="10424160" cy="320040"/>
          </a:xfrm>
          <a:prstGeom prst="rect">
            <a:avLst/>
          </a:prstGeom>
          <a:noFill/>
          <a:ln/>
        </p:spPr>
        <p:txBody>
          <a:bodyPr wrap="square" lIns="0" tIns="0" rIns="0" bIns="0" rtlCol="0" anchor="ctr"/>
          <a:lstStyle/>
          <a:p>
            <a:pPr marL="0" indent="0">
              <a:buNone/>
            </a:pPr>
            <a:r>
              <a:rPr lang="en-US" sz="1350" b="1" dirty="0">
                <a:solidFill>
                  <a:srgbClr val="E24B4A"/>
                </a:solidFill>
                <a:latin typeface="Calibri" pitchFamily="34" charset="0"/>
                <a:ea typeface="Calibri" pitchFamily="34" charset="-122"/>
                <a:cs typeface="Calibri" pitchFamily="34" charset="-120"/>
              </a:rPr>
              <a:t>Wide-format source data</a:t>
            </a:r>
            <a:endParaRPr lang="en-US" sz="1350" dirty="0"/>
          </a:p>
        </p:txBody>
      </p:sp>
      <p:sp>
        <p:nvSpPr>
          <p:cNvPr id="8" name="Text 6"/>
          <p:cNvSpPr/>
          <p:nvPr/>
        </p:nvSpPr>
        <p:spPr>
          <a:xfrm>
            <a:off x="822960" y="3136392"/>
            <a:ext cx="1042416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Each file had 1,143 date columns. Required unpivoting, grouping to country/date level, and merging three separate queries into one clean table.</a:t>
            </a:r>
            <a:endParaRPr lang="en-US" sz="1100" dirty="0"/>
          </a:p>
        </p:txBody>
      </p:sp>
      <p:sp>
        <p:nvSpPr>
          <p:cNvPr id="9" name="Shape 7"/>
          <p:cNvSpPr/>
          <p:nvPr/>
        </p:nvSpPr>
        <p:spPr>
          <a:xfrm>
            <a:off x="548640" y="3941064"/>
            <a:ext cx="11064240" cy="1097280"/>
          </a:xfrm>
          <a:prstGeom prst="roundRect">
            <a:avLst>
              <a:gd name="adj" fmla="val 6667"/>
            </a:avLst>
          </a:prstGeom>
          <a:solidFill>
            <a:srgbClr val="F5F7F8"/>
          </a:solidFill>
          <a:ln/>
        </p:spPr>
      </p:sp>
      <p:sp>
        <p:nvSpPr>
          <p:cNvPr id="10" name="Text 8"/>
          <p:cNvSpPr/>
          <p:nvPr/>
        </p:nvSpPr>
        <p:spPr>
          <a:xfrm>
            <a:off x="822960" y="4050792"/>
            <a:ext cx="10424160" cy="320040"/>
          </a:xfrm>
          <a:prstGeom prst="rect">
            <a:avLst/>
          </a:prstGeom>
          <a:noFill/>
          <a:ln/>
        </p:spPr>
        <p:txBody>
          <a:bodyPr wrap="square" lIns="0" tIns="0" rIns="0" bIns="0" rtlCol="0" anchor="ctr"/>
          <a:lstStyle/>
          <a:p>
            <a:pPr marL="0" indent="0">
              <a:buNone/>
            </a:pPr>
            <a:r>
              <a:rPr lang="en-US" sz="1350" b="1" dirty="0">
                <a:solidFill>
                  <a:srgbClr val="E24B4A"/>
                </a:solidFill>
                <a:latin typeface="Calibri" pitchFamily="34" charset="0"/>
                <a:ea typeface="Calibri" pitchFamily="34" charset="-122"/>
                <a:cs typeface="Calibri" pitchFamily="34" charset="-120"/>
              </a:rPr>
              <a:t>Chart overcrowding</a:t>
            </a:r>
            <a:endParaRPr lang="en-US" sz="1350" dirty="0"/>
          </a:p>
        </p:txBody>
      </p:sp>
      <p:sp>
        <p:nvSpPr>
          <p:cNvPr id="11" name="Text 9"/>
          <p:cNvSpPr/>
          <p:nvPr/>
        </p:nvSpPr>
        <p:spPr>
          <a:xfrm>
            <a:off x="822960" y="4398264"/>
            <a:ext cx="1042416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Scatter and map visuals were unreadable with 195+ countries plotted at once. Resolved with Top N filtering, a logarithmic X-axis, and a minimum case-count threshold to exclude statistically unstable outliers.</a:t>
            </a:r>
            <a:endParaRPr lang="en-US" sz="1100" dirty="0"/>
          </a:p>
        </p:txBody>
      </p:sp>
      <p:sp>
        <p:nvSpPr>
          <p:cNvPr id="12" name="Shape 10"/>
          <p:cNvSpPr/>
          <p:nvPr/>
        </p:nvSpPr>
        <p:spPr>
          <a:xfrm>
            <a:off x="548640" y="5202936"/>
            <a:ext cx="11064240" cy="1097280"/>
          </a:xfrm>
          <a:prstGeom prst="roundRect">
            <a:avLst>
              <a:gd name="adj" fmla="val 6667"/>
            </a:avLst>
          </a:prstGeom>
          <a:solidFill>
            <a:srgbClr val="F5F7F8"/>
          </a:solidFill>
          <a:ln/>
        </p:spPr>
      </p:sp>
      <p:sp>
        <p:nvSpPr>
          <p:cNvPr id="13" name="Text 11"/>
          <p:cNvSpPr/>
          <p:nvPr/>
        </p:nvSpPr>
        <p:spPr>
          <a:xfrm>
            <a:off x="822960" y="5312664"/>
            <a:ext cx="10424160" cy="320040"/>
          </a:xfrm>
          <a:prstGeom prst="rect">
            <a:avLst/>
          </a:prstGeom>
          <a:noFill/>
          <a:ln/>
        </p:spPr>
        <p:txBody>
          <a:bodyPr wrap="square" lIns="0" tIns="0" rIns="0" bIns="0" rtlCol="0" anchor="ctr"/>
          <a:lstStyle/>
          <a:p>
            <a:pPr marL="0" indent="0">
              <a:buNone/>
            </a:pPr>
            <a:r>
              <a:rPr lang="en-US" sz="1350" b="1" dirty="0">
                <a:solidFill>
                  <a:srgbClr val="E24B4A"/>
                </a:solidFill>
                <a:latin typeface="Calibri" pitchFamily="34" charset="0"/>
                <a:ea typeface="Calibri" pitchFamily="34" charset="-122"/>
                <a:cs typeface="Calibri" pitchFamily="34" charset="-120"/>
              </a:rPr>
              <a:t>Deprecated map visual</a:t>
            </a:r>
            <a:endParaRPr lang="en-US" sz="1350" dirty="0"/>
          </a:p>
        </p:txBody>
      </p:sp>
      <p:sp>
        <p:nvSpPr>
          <p:cNvPr id="14" name="Text 12"/>
          <p:cNvSpPr/>
          <p:nvPr/>
        </p:nvSpPr>
        <p:spPr>
          <a:xfrm>
            <a:off x="822960" y="5660136"/>
            <a:ext cx="1042416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The classic Filled Map is being retired by Microsoft. Pivoted to a Treemap for country-level severity comparison instead.</a:t>
            </a:r>
            <a:endParaRPr lang="en-US" sz="1100" dirty="0"/>
          </a:p>
        </p:txBody>
      </p:sp>
      <p:sp>
        <p:nvSpPr>
          <p:cNvPr id="15" name="Text 13"/>
          <p:cNvSpPr/>
          <p:nvPr/>
        </p:nvSpPr>
        <p:spPr>
          <a:xfrm>
            <a:off x="457200" y="6446520"/>
            <a:ext cx="11277295" cy="274320"/>
          </a:xfrm>
          <a:prstGeom prst="rect">
            <a:avLst/>
          </a:prstGeom>
          <a:noFill/>
          <a:ln/>
        </p:spPr>
        <p:txBody>
          <a:bodyPr wrap="square" lIns="0" tIns="0" rIns="0" bIns="0" rtlCol="0" anchor="ctr"/>
          <a:lstStyle/>
          <a:p>
            <a:pPr marL="0" indent="0" algn="r">
              <a:buNone/>
            </a:pPr>
            <a:r>
              <a:rPr lang="en-US" sz="900" dirty="0">
                <a:solidFill>
                  <a:srgbClr val="9CA3AF"/>
                </a:solidFill>
                <a:latin typeface="Calibri" pitchFamily="34" charset="0"/>
                <a:ea typeface="Calibri" pitchFamily="34" charset="-122"/>
                <a:cs typeface="Calibri" pitchFamily="34" charset="-120"/>
              </a:rPr>
              <a:t>AnalystLab Africa  |  Week 4 Capstone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4213D"/>
          </a:solidFill>
          <a:ln/>
        </p:spPr>
      </p:sp>
      <p:sp>
        <p:nvSpPr>
          <p:cNvPr id="3" name="Text 1"/>
          <p:cNvSpPr/>
          <p:nvPr/>
        </p:nvSpPr>
        <p:spPr>
          <a:xfrm>
            <a:off x="822960" y="822960"/>
            <a:ext cx="73152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Text 2"/>
          <p:cNvSpPr/>
          <p:nvPr/>
        </p:nvSpPr>
        <p:spPr>
          <a:xfrm>
            <a:off x="822960" y="1828800"/>
            <a:ext cx="7680960" cy="1737360"/>
          </a:xfrm>
          <a:prstGeom prst="rect">
            <a:avLst/>
          </a:prstGeom>
          <a:noFill/>
          <a:ln/>
        </p:spPr>
        <p:txBody>
          <a:bodyPr wrap="square" lIns="0" tIns="0" rIns="0" bIns="0" rtlCol="0" anchor="ctr"/>
          <a:lstStyle/>
          <a:p>
            <a:pPr marL="0" indent="0">
              <a:lnSpc>
                <a:spcPct val="130000"/>
              </a:lnSpc>
              <a:buNone/>
            </a:pPr>
            <a:r>
              <a:rPr lang="en-US" sz="1400" dirty="0">
                <a:solidFill>
                  <a:srgbClr val="D6DBE6"/>
                </a:solidFill>
                <a:latin typeface="Calibri" pitchFamily="34" charset="0"/>
                <a:ea typeface="Calibri" pitchFamily="34" charset="-122"/>
                <a:cs typeface="Calibri" pitchFamily="34" charset="-120"/>
              </a:rPr>
              <a:t>This dashboard turns three raw JHU CSSE time-series files into a two-page analytical view of the pandemic. It shows that case volume and severity are separate stories, that data completeness varies significantly by country and by metric, and that any comparison across countries needs a minimum-volume safeguard to stay honest.</a:t>
            </a:r>
            <a:endParaRPr lang="en-US" sz="1400" dirty="0"/>
          </a:p>
        </p:txBody>
      </p:sp>
      <p:sp>
        <p:nvSpPr>
          <p:cNvPr id="5" name="Text 3"/>
          <p:cNvSpPr/>
          <p:nvPr/>
        </p:nvSpPr>
        <p:spPr>
          <a:xfrm>
            <a:off x="822960" y="3749040"/>
            <a:ext cx="7315200" cy="365760"/>
          </a:xfrm>
          <a:prstGeom prst="rect">
            <a:avLst/>
          </a:prstGeom>
          <a:noFill/>
          <a:ln/>
        </p:spPr>
        <p:txBody>
          <a:bodyPr wrap="square" lIns="0" tIns="0" rIns="0" bIns="0" rtlCol="0" anchor="ctr"/>
          <a:lstStyle/>
          <a:p>
            <a:pPr marL="0" indent="0">
              <a:buNone/>
            </a:pPr>
            <a:r>
              <a:rPr lang="en-US" sz="1150" i="1" dirty="0">
                <a:solidFill>
                  <a:srgbClr val="8A93A6"/>
                </a:solidFill>
                <a:latin typeface="Calibri" pitchFamily="34" charset="0"/>
                <a:ea typeface="Calibri" pitchFamily="34" charset="-122"/>
                <a:cs typeface="Calibri" pitchFamily="34" charset="-120"/>
              </a:rPr>
              <a:t>Built with Power BI, using the JHU CSSE COVID-19 Data Repository (CC BY 4.0).</a:t>
            </a:r>
            <a:endParaRPr lang="en-US" sz="1150" dirty="0"/>
          </a:p>
        </p:txBody>
      </p:sp>
      <p:sp>
        <p:nvSpPr>
          <p:cNvPr id="6" name="Shape 4"/>
          <p:cNvSpPr/>
          <p:nvPr/>
        </p:nvSpPr>
        <p:spPr>
          <a:xfrm>
            <a:off x="8869680" y="1737360"/>
            <a:ext cx="2651760" cy="3108960"/>
          </a:xfrm>
          <a:prstGeom prst="roundRect">
            <a:avLst>
              <a:gd name="adj" fmla="val 3448"/>
            </a:avLst>
          </a:prstGeom>
          <a:solidFill>
            <a:srgbClr val="14213D"/>
          </a:solidFill>
          <a:ln/>
        </p:spPr>
      </p:sp>
      <p:sp>
        <p:nvSpPr>
          <p:cNvPr id="7" name="Text 5"/>
          <p:cNvSpPr/>
          <p:nvPr/>
        </p:nvSpPr>
        <p:spPr>
          <a:xfrm>
            <a:off x="9006840" y="1965960"/>
            <a:ext cx="2377440" cy="640080"/>
          </a:xfrm>
          <a:prstGeom prst="rect">
            <a:avLst/>
          </a:prstGeom>
          <a:noFill/>
          <a:ln/>
        </p:spPr>
        <p:txBody>
          <a:bodyPr wrap="square" lIns="0" tIns="0" rIns="0" bIns="0" rtlCol="0" anchor="ctr"/>
          <a:lstStyle/>
          <a:p>
            <a:pPr marL="0" indent="0">
              <a:buNone/>
            </a:pPr>
            <a:r>
              <a:rPr lang="en-US" sz="2600" b="1" dirty="0">
                <a:solidFill>
                  <a:srgbClr val="9FE1CB"/>
                </a:solidFill>
                <a:latin typeface="Calibri" pitchFamily="34" charset="0"/>
                <a:ea typeface="Calibri" pitchFamily="34" charset="-122"/>
                <a:cs typeface="Calibri" pitchFamily="34" charset="-120"/>
              </a:rPr>
              <a:t>78.7%</a:t>
            </a:r>
            <a:endParaRPr lang="en-US" sz="2600" dirty="0"/>
          </a:p>
        </p:txBody>
      </p:sp>
      <p:sp>
        <p:nvSpPr>
          <p:cNvPr id="8" name="Text 6"/>
          <p:cNvSpPr/>
          <p:nvPr/>
        </p:nvSpPr>
        <p:spPr>
          <a:xfrm>
            <a:off x="9006840" y="2606040"/>
            <a:ext cx="2377440" cy="914400"/>
          </a:xfrm>
          <a:prstGeom prst="rect">
            <a:avLst/>
          </a:prstGeom>
          <a:noFill/>
          <a:ln/>
        </p:spPr>
        <p:txBody>
          <a:bodyPr wrap="square" lIns="0" tIns="0" rIns="0" bIns="0" rtlCol="0" anchor="ctr"/>
          <a:lstStyle/>
          <a:p>
            <a:pPr marL="0" indent="0">
              <a:buNone/>
            </a:pPr>
            <a:r>
              <a:rPr lang="en-US" sz="1000" dirty="0">
                <a:solidFill>
                  <a:srgbClr val="C7CEDA"/>
                </a:solidFill>
                <a:latin typeface="Calibri" pitchFamily="34" charset="0"/>
                <a:ea typeface="Calibri" pitchFamily="34" charset="-122"/>
                <a:cs typeface="Calibri" pitchFamily="34" charset="-120"/>
              </a:rPr>
              <a:t>of confirmed cases remain unresolved in the source data</a:t>
            </a:r>
            <a:endParaRPr lang="en-US" sz="1000" dirty="0"/>
          </a:p>
        </p:txBody>
      </p:sp>
      <p:sp>
        <p:nvSpPr>
          <p:cNvPr id="9" name="Shape 7"/>
          <p:cNvSpPr/>
          <p:nvPr/>
        </p:nvSpPr>
        <p:spPr>
          <a:xfrm>
            <a:off x="9006840" y="3657600"/>
            <a:ext cx="2377440" cy="0"/>
          </a:xfrm>
          <a:prstGeom prst="line">
            <a:avLst/>
          </a:prstGeom>
          <a:noFill/>
          <a:ln w="12700">
            <a:solidFill>
              <a:srgbClr val="3A4763"/>
            </a:solidFill>
            <a:prstDash val="solid"/>
          </a:ln>
        </p:spPr>
      </p:sp>
      <p:sp>
        <p:nvSpPr>
          <p:cNvPr id="10" name="Text 8"/>
          <p:cNvSpPr/>
          <p:nvPr/>
        </p:nvSpPr>
        <p:spPr>
          <a:xfrm>
            <a:off x="9006840" y="3794760"/>
            <a:ext cx="2377440" cy="548640"/>
          </a:xfrm>
          <a:prstGeom prst="rect">
            <a:avLst/>
          </a:prstGeom>
          <a:noFill/>
          <a:ln/>
        </p:spPr>
        <p:txBody>
          <a:bodyPr wrap="square" lIns="0" tIns="0" rIns="0" bIns="0" rtlCol="0" anchor="ctr"/>
          <a:lstStyle/>
          <a:p>
            <a:pPr marL="0" indent="0">
              <a:buNone/>
            </a:pPr>
            <a:r>
              <a:rPr lang="en-US" sz="2600" b="1" dirty="0">
                <a:solidFill>
                  <a:srgbClr val="E24B4A"/>
                </a:solidFill>
                <a:latin typeface="Calibri" pitchFamily="34" charset="0"/>
                <a:ea typeface="Calibri" pitchFamily="34" charset="-122"/>
                <a:cs typeface="Calibri" pitchFamily="34" charset="-120"/>
              </a:rPr>
              <a:t>18.07%</a:t>
            </a:r>
            <a:endParaRPr lang="en-US" sz="2600" dirty="0"/>
          </a:p>
        </p:txBody>
      </p:sp>
      <p:sp>
        <p:nvSpPr>
          <p:cNvPr id="11" name="Text 9"/>
          <p:cNvSpPr/>
          <p:nvPr/>
        </p:nvSpPr>
        <p:spPr>
          <a:xfrm>
            <a:off x="9006840" y="4343400"/>
            <a:ext cx="2377440" cy="457200"/>
          </a:xfrm>
          <a:prstGeom prst="rect">
            <a:avLst/>
          </a:prstGeom>
          <a:noFill/>
          <a:ln/>
        </p:spPr>
        <p:txBody>
          <a:bodyPr wrap="square" lIns="0" tIns="0" rIns="0" bIns="0" rtlCol="0" anchor="ctr"/>
          <a:lstStyle/>
          <a:p>
            <a:pPr marL="0" indent="0">
              <a:buNone/>
            </a:pPr>
            <a:r>
              <a:rPr lang="en-US" sz="1000" dirty="0">
                <a:solidFill>
                  <a:srgbClr val="C7CEDA"/>
                </a:solidFill>
                <a:latin typeface="Calibri" pitchFamily="34" charset="0"/>
                <a:ea typeface="Calibri" pitchFamily="34" charset="-122"/>
                <a:cs typeface="Calibri" pitchFamily="34" charset="-120"/>
              </a:rPr>
              <a:t>highest death rate observed, Yemen</a:t>
            </a:r>
            <a:endParaRPr lang="en-US" sz="1000" dirty="0"/>
          </a:p>
        </p:txBody>
      </p:sp>
      <p:sp>
        <p:nvSpPr>
          <p:cNvPr id="12" name="Text 10"/>
          <p:cNvSpPr/>
          <p:nvPr/>
        </p:nvSpPr>
        <p:spPr>
          <a:xfrm>
            <a:off x="822960" y="6035040"/>
            <a:ext cx="7315200" cy="365760"/>
          </a:xfrm>
          <a:prstGeom prst="rect">
            <a:avLst/>
          </a:prstGeom>
          <a:noFill/>
          <a:ln/>
        </p:spPr>
        <p:txBody>
          <a:bodyPr wrap="square" lIns="0" tIns="0" rIns="0" bIns="0" rtlCol="0" anchor="ctr"/>
          <a:lstStyle/>
          <a:p>
            <a:pPr marL="0" indent="0">
              <a:buNone/>
            </a:pPr>
            <a:r>
              <a:rPr lang="en-US" sz="1150" dirty="0">
                <a:solidFill>
                  <a:srgbClr val="8A93A6"/>
                </a:solidFill>
                <a:latin typeface="Calibri" pitchFamily="34" charset="0"/>
                <a:ea typeface="Calibri" pitchFamily="34" charset="-122"/>
                <a:cs typeface="Calibri" pitchFamily="34" charset="-120"/>
              </a:rPr>
              <a:t>Timothy Kehinde  |  Data Analyst Intern, AnalystLab Africa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889</Words>
  <Application>Microsoft Office PowerPoint</Application>
  <PresentationFormat>Widescreen</PresentationFormat>
  <Paragraphs>105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Timothy Kehinde</cp:lastModifiedBy>
  <cp:revision>2</cp:revision>
  <dcterms:created xsi:type="dcterms:W3CDTF">2026-08-02T22:58:24Z</dcterms:created>
  <dcterms:modified xsi:type="dcterms:W3CDTF">2026-08-02T23:15:53Z</dcterms:modified>
</cp:coreProperties>
</file>